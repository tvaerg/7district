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2"/>
  </p:notesMasterIdLst>
  <p:sldIdLst>
    <p:sldId id="847" r:id="rId5"/>
    <p:sldId id="864" r:id="rId6"/>
    <p:sldId id="848" r:id="rId7"/>
    <p:sldId id="884" r:id="rId8"/>
    <p:sldId id="871" r:id="rId9"/>
    <p:sldId id="872" r:id="rId10"/>
    <p:sldId id="885" r:id="rId18"/>
    <p:sldId id="273" r:id="rId1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1712" userDrawn="1">
          <p15:clr>
            <a:srgbClr val="A4A3A4"/>
          </p15:clr>
        </p15:guide>
        <p15:guide id="2" pos="1058" userDrawn="1">
          <p15:clr>
            <a:srgbClr val="A4A3A4"/>
          </p15:clr>
        </p15:guide>
        <p15:guide id="3" pos="14552" userDrawn="1">
          <p15:clr>
            <a:srgbClr val="A4A3A4"/>
          </p15:clr>
        </p15:guide>
        <p15:guide id="4" pos="7431" userDrawn="1">
          <p15:clr>
            <a:srgbClr val="A4A3A4"/>
          </p15:clr>
        </p15:guide>
        <p15:guide id="5" pos="7907" userDrawn="1">
          <p15:clr>
            <a:srgbClr val="A4A3A4"/>
          </p15:clr>
        </p15:guide>
        <p15:guide id="6" pos="74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16E7CF"/>
    <a:srgbClr val="6E00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 showGuides="1">
      <p:cViewPr varScale="1">
        <p:scale>
          <a:sx n="43" d="100"/>
          <a:sy n="43" d="100"/>
        </p:scale>
        <p:origin x="504" y="54"/>
      </p:cViewPr>
      <p:guideLst>
        <p:guide orient="horz" pos="1712"/>
        <p:guide pos="1058"/>
        <p:guide pos="14552"/>
        <p:guide pos="7431"/>
        <p:guide pos="7907"/>
        <p:guide pos="749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8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6/11/relationships/changesInfo" Target="changesInfos/changesInfo1.xml"/><Relationship Id="rId1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ers Jacobson" userId="126aeea4-8f38-4302-b1a4-2679c3cf6bdb" providerId="ADAL" clId="{21716AD9-69E8-492D-8A03-6C8C0A8C29B5}"/>
    <pc:docChg chg="undo redo custSel addSld delSld modSld sldOrd">
      <pc:chgData name="Anders Jacobson" userId="126aeea4-8f38-4302-b1a4-2679c3cf6bdb" providerId="ADAL" clId="{21716AD9-69E8-492D-8A03-6C8C0A8C29B5}" dt="2026-05-26T07:43:09.046" v="37342" actId="47"/>
      <pc:docMkLst>
        <pc:docMk/>
      </pc:docMkLst>
      <pc:sldChg chg="modSp del mod">
        <pc:chgData name="Anders Jacobson" userId="126aeea4-8f38-4302-b1a4-2679c3cf6bdb" providerId="ADAL" clId="{21716AD9-69E8-492D-8A03-6C8C0A8C29B5}" dt="2026-05-26T07:42:34.638" v="37299" actId="47"/>
        <pc:sldMkLst>
          <pc:docMk/>
          <pc:sldMk cId="0" sldId="256"/>
        </pc:sldMkLst>
      </pc:sldChg>
      <pc:sldChg chg="del">
        <pc:chgData name="Anders Jacobson" userId="126aeea4-8f38-4302-b1a4-2679c3cf6bdb" providerId="ADAL" clId="{21716AD9-69E8-492D-8A03-6C8C0A8C29B5}" dt="2026-05-26T07:42:34.638" v="37299" actId="47"/>
        <pc:sldMkLst>
          <pc:docMk/>
          <pc:sldMk cId="2258462493" sldId="814"/>
        </pc:sldMkLst>
      </pc:sldChg>
      <pc:sldChg chg="modSp del mod">
        <pc:chgData name="Anders Jacobson" userId="126aeea4-8f38-4302-b1a4-2679c3cf6bdb" providerId="ADAL" clId="{21716AD9-69E8-492D-8A03-6C8C0A8C29B5}" dt="2026-05-26T07:42:34.638" v="37299" actId="47"/>
        <pc:sldMkLst>
          <pc:docMk/>
          <pc:sldMk cId="1584742967" sldId="836"/>
        </pc:sldMkLst>
      </pc:sldChg>
      <pc:sldChg chg="modSp mod">
        <pc:chgData name="Anders Jacobson" userId="126aeea4-8f38-4302-b1a4-2679c3cf6bdb" providerId="ADAL" clId="{21716AD9-69E8-492D-8A03-6C8C0A8C29B5}" dt="2026-05-26T07:42:58.715" v="37341" actId="20577"/>
        <pc:sldMkLst>
          <pc:docMk/>
          <pc:sldMk cId="3672234128" sldId="847"/>
        </pc:sldMkLst>
        <pc:spChg chg="mod">
          <ac:chgData name="Anders Jacobson" userId="126aeea4-8f38-4302-b1a4-2679c3cf6bdb" providerId="ADAL" clId="{21716AD9-69E8-492D-8A03-6C8C0A8C29B5}" dt="2026-05-26T07:42:58.715" v="37341" actId="20577"/>
          <ac:spMkLst>
            <pc:docMk/>
            <pc:sldMk cId="3672234128" sldId="847"/>
            <ac:spMk id="219" creationId="{3234727A-8BB7-29B2-186C-369FF2F275BC}"/>
          </ac:spMkLst>
        </pc:spChg>
      </pc:sldChg>
      <pc:sldChg chg="del">
        <pc:chgData name="Anders Jacobson" userId="126aeea4-8f38-4302-b1a4-2679c3cf6bdb" providerId="ADAL" clId="{21716AD9-69E8-492D-8A03-6C8C0A8C29B5}" dt="2026-05-26T07:43:09.046" v="37342" actId="47"/>
        <pc:sldMkLst>
          <pc:docMk/>
          <pc:sldMk cId="869524993" sldId="865"/>
        </pc:sldMkLst>
      </pc:sldChg>
      <pc:sldChg chg="del">
        <pc:chgData name="Anders Jacobson" userId="126aeea4-8f38-4302-b1a4-2679c3cf6bdb" providerId="ADAL" clId="{21716AD9-69E8-492D-8A03-6C8C0A8C29B5}" dt="2026-05-26T07:43:09.046" v="37342" actId="47"/>
        <pc:sldMkLst>
          <pc:docMk/>
          <pc:sldMk cId="2518660655" sldId="875"/>
        </pc:sldMkLst>
      </pc:sldChg>
      <pc:sldChg chg="add del">
        <pc:chgData name="Anders Jacobson" userId="126aeea4-8f38-4302-b1a4-2679c3cf6bdb" providerId="ADAL" clId="{21716AD9-69E8-492D-8A03-6C8C0A8C29B5}" dt="2026-05-26T07:42:34.638" v="37299" actId="47"/>
        <pc:sldMkLst>
          <pc:docMk/>
          <pc:sldMk cId="2056127536" sldId="882"/>
        </pc:sldMkLst>
      </pc:sldChg>
      <pc:sldChg chg="del">
        <pc:chgData name="Anders Jacobson" userId="126aeea4-8f38-4302-b1a4-2679c3cf6bdb" providerId="ADAL" clId="{21716AD9-69E8-492D-8A03-6C8C0A8C29B5}" dt="2026-05-26T07:43:09.046" v="37342" actId="47"/>
        <pc:sldMkLst>
          <pc:docMk/>
          <pc:sldMk cId="1919619382" sldId="885"/>
        </pc:sldMkLst>
      </pc:sldChg>
      <pc:sldChg chg="del">
        <pc:chgData name="Anders Jacobson" userId="126aeea4-8f38-4302-b1a4-2679c3cf6bdb" providerId="ADAL" clId="{21716AD9-69E8-492D-8A03-6C8C0A8C29B5}" dt="2026-05-26T07:43:09.046" v="37342" actId="47"/>
        <pc:sldMkLst>
          <pc:docMk/>
          <pc:sldMk cId="4159265666" sldId="886"/>
        </pc:sldMkLst>
      </pc:sldChg>
      <pc:sldChg chg="del">
        <pc:chgData name="Anders Jacobson" userId="126aeea4-8f38-4302-b1a4-2679c3cf6bdb" providerId="ADAL" clId="{21716AD9-69E8-492D-8A03-6C8C0A8C29B5}" dt="2026-05-26T07:43:09.046" v="37342" actId="47"/>
        <pc:sldMkLst>
          <pc:docMk/>
          <pc:sldMk cId="458093682" sldId="887"/>
        </pc:sldMkLst>
      </pc:sldChg>
      <pc:sldChg chg="del">
        <pc:chgData name="Anders Jacobson" userId="126aeea4-8f38-4302-b1a4-2679c3cf6bdb" providerId="ADAL" clId="{21716AD9-69E8-492D-8A03-6C8C0A8C29B5}" dt="2026-05-26T07:43:09.046" v="37342" actId="47"/>
        <pc:sldMkLst>
          <pc:docMk/>
          <pc:sldMk cId="2768393918" sldId="888"/>
        </pc:sldMkLst>
      </pc:sldChg>
      <pc:sldChg chg="add del">
        <pc:chgData name="Anders Jacobson" userId="126aeea4-8f38-4302-b1a4-2679c3cf6bdb" providerId="ADAL" clId="{21716AD9-69E8-492D-8A03-6C8C0A8C29B5}" dt="2026-05-26T07:42:34.638" v="37299" actId="47"/>
        <pc:sldMkLst>
          <pc:docMk/>
          <pc:sldMk cId="175147054" sldId="889"/>
        </pc:sldMkLst>
      </pc:sldChg>
      <pc:sldChg chg="del">
        <pc:chgData name="Anders Jacobson" userId="126aeea4-8f38-4302-b1a4-2679c3cf6bdb" providerId="ADAL" clId="{21716AD9-69E8-492D-8A03-6C8C0A8C29B5}" dt="2026-05-26T07:43:09.046" v="37342" actId="47"/>
        <pc:sldMkLst>
          <pc:docMk/>
          <pc:sldMk cId="2170685948" sldId="890"/>
        </pc:sldMkLst>
      </pc:sldChg>
      <pc:sldChg chg="del">
        <pc:chgData name="Anders Jacobson" userId="126aeea4-8f38-4302-b1a4-2679c3cf6bdb" providerId="ADAL" clId="{21716AD9-69E8-492D-8A03-6C8C0A8C29B5}" dt="2026-05-26T07:43:09.046" v="37342" actId="47"/>
        <pc:sldMkLst>
          <pc:docMk/>
          <pc:sldMk cId="197547116" sldId="891"/>
        </pc:sldMkLst>
      </pc:sldChg>
      <pc:sldChg chg="del">
        <pc:chgData name="Anders Jacobson" userId="126aeea4-8f38-4302-b1a4-2679c3cf6bdb" providerId="ADAL" clId="{21716AD9-69E8-492D-8A03-6C8C0A8C29B5}" dt="2026-05-26T07:43:09.046" v="37342" actId="47"/>
        <pc:sldMkLst>
          <pc:docMk/>
          <pc:sldMk cId="374762907" sldId="892"/>
        </pc:sldMkLst>
      </pc:sldChg>
      <pc:sldChg chg="del">
        <pc:chgData name="Anders Jacobson" userId="126aeea4-8f38-4302-b1a4-2679c3cf6bdb" providerId="ADAL" clId="{21716AD9-69E8-492D-8A03-6C8C0A8C29B5}" dt="2026-05-26T07:43:09.046" v="37342" actId="47"/>
        <pc:sldMkLst>
          <pc:docMk/>
          <pc:sldMk cId="2705980092" sldId="893"/>
        </pc:sldMkLst>
      </pc:sldChg>
      <pc:sldChg chg="del">
        <pc:chgData name="Anders Jacobson" userId="126aeea4-8f38-4302-b1a4-2679c3cf6bdb" providerId="ADAL" clId="{21716AD9-69E8-492D-8A03-6C8C0A8C29B5}" dt="2026-05-26T07:43:09.046" v="37342" actId="47"/>
        <pc:sldMkLst>
          <pc:docMk/>
          <pc:sldMk cId="837229804" sldId="894"/>
        </pc:sldMkLst>
      </pc:sldChg>
      <pc:sldChg chg="addSp delSp modSp add del mod">
        <pc:chgData name="Anders Jacobson" userId="126aeea4-8f38-4302-b1a4-2679c3cf6bdb" providerId="ADAL" clId="{21716AD9-69E8-492D-8A03-6C8C0A8C29B5}" dt="2026-05-26T07:42:34.638" v="37299" actId="47"/>
        <pc:sldMkLst>
          <pc:docMk/>
          <pc:sldMk cId="2689742626" sldId="895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9" name="Shape 14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Shape 36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62" name="Shape 36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2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Note: Please After adding your picture to “Image Place Holder” by “Drag &amp; Drop”, right click on it and “Send it Back”.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kapare och datum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Skapare och datum</a:t>
            </a:r>
          </a:p>
        </p:txBody>
      </p:sp>
      <p:sp>
        <p:nvSpPr>
          <p:cNvPr id="12" name="Presentationstitel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Presentations­titel</a:t>
            </a:r>
          </a:p>
        </p:txBody>
      </p:sp>
      <p:sp>
        <p:nvSpPr>
          <p:cNvPr id="13" name="Brödtext nivå ett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Presentations­undertitel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Diabilds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 och bild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910457886_1434x1669.jpg"/>
          <p:cNvSpPr>
            <a:spLocks noGrp="1"/>
          </p:cNvSpPr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Diabildstitel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Diabilds­titel</a:t>
            </a:r>
          </a:p>
        </p:txBody>
      </p:sp>
      <p:sp>
        <p:nvSpPr>
          <p:cNvPr id="34" name="Brödtext nivå ett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Diabildsundertitel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Diabildsnumm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un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rödtext nivå ett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Diabildspunkttext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Diabilds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, punkter och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Diabildsundertitel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Diabildsundertitel</a:t>
            </a:r>
          </a:p>
        </p:txBody>
      </p:sp>
      <p:sp>
        <p:nvSpPr>
          <p:cNvPr id="61" name="Brödtext nivå ett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Diabildspunkttext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660384004_1290x1720.jpg"/>
          <p:cNvSpPr>
            <a:spLocks noGrp="1"/>
          </p:cNvSpPr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Diabildstitel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Diabilds­titel</a:t>
            </a:r>
          </a:p>
        </p:txBody>
      </p:sp>
      <p:sp>
        <p:nvSpPr>
          <p:cNvPr id="64" name="Diabilds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vsni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Avsnittstitel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Avsnittstitel</a:t>
            </a:r>
          </a:p>
        </p:txBody>
      </p:sp>
      <p:sp>
        <p:nvSpPr>
          <p:cNvPr id="72" name="Diabildsnumm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Endast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Diabildstitel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Diabilds­titel</a:t>
            </a:r>
          </a:p>
        </p:txBody>
      </p:sp>
      <p:sp>
        <p:nvSpPr>
          <p:cNvPr id="80" name="Diabildsundertitel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Diabildsundertitel</a:t>
            </a:r>
          </a:p>
        </p:txBody>
      </p:sp>
      <p:sp>
        <p:nvSpPr>
          <p:cNvPr id="81" name="Diabilds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Uttry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rödtext nivå ett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Uttryck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9" name="Diabilds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ort fakt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rödtext nivå ett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100 %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7" name="Fakta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Faktainformation</a:t>
            </a:r>
          </a:p>
        </p:txBody>
      </p:sp>
      <p:sp>
        <p:nvSpPr>
          <p:cNvPr id="108" name="Diabilds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illskrivning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Tillskrivning</a:t>
            </a:r>
          </a:p>
        </p:txBody>
      </p:sp>
      <p:sp>
        <p:nvSpPr>
          <p:cNvPr id="116" name="Brödtext nivå ett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”Framträdande citat”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7" name="Diabilds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 – 3 per si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Bild"/>
          <p:cNvSpPr>
            <a:spLocks noGrp="1"/>
          </p:cNvSpPr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5" name="Bild"/>
          <p:cNvSpPr>
            <a:spLocks noGrp="1"/>
          </p:cNvSpPr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6" name="Bild"/>
          <p:cNvSpPr>
            <a:spLocks noGrp="1"/>
          </p:cNvSpPr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7" name="Diabilds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ild"/>
          <p:cNvSpPr>
            <a:spLocks noGrp="1"/>
          </p:cNvSpPr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5" name="Diabilds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Diabilds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bildstitel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Diabilds­titel</a:t>
            </a:r>
          </a:p>
        </p:txBody>
      </p:sp>
      <p:sp>
        <p:nvSpPr>
          <p:cNvPr id="3" name="Brödtext nivå ett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Diabildspunkttext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Diabildsnumm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3" r:id="rId3"/>
    <p:sldLayoutId id="2147483654" r:id="rId4"/>
    <p:sldLayoutId id="2147483655" r:id="rId5"/>
    <p:sldLayoutId id="2147483656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 userDrawn="1">
          <p15:clr>
            <a:srgbClr val="F26B43"/>
          </p15:clr>
        </p15:guide>
        <p15:guide id="2" pos="768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tif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tif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tiff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tiff"/><Relationship Id="rId3" Type="http://schemas.openxmlformats.org/officeDocument/2006/relationships/image" Target="../media/image5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tiff"/><Relationship Id="rId3" Type="http://schemas.openxmlformats.org/officeDocument/2006/relationships/image" Target="../media/image6.png"/><Relationship Id="rId4" Type="http://schemas.openxmlformats.org/officeDocument/2006/relationships/image" Target="../media/image7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tiff"/><Relationship Id="rId3" Type="http://schemas.openxmlformats.org/officeDocument/2006/relationships/image" Target="../media/image8.png"/><Relationship Id="rId4" Type="http://schemas.openxmlformats.org/officeDocument/2006/relationships/image" Target="../media/image1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2.tiff"/></Relationships>
</file>

<file path=ppt/slides/_rels/slide8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1.xml"/><Relationship Id="rId5" Type="http://schemas.openxmlformats.org/officeDocument/2006/relationships/image" Target="../media/image9.png"/><Relationship Id="rId6" Type="http://schemas.openxmlformats.org/officeDocument/2006/relationships/hyperlink" Target="mailto:hello@sevendistrict.com" TargetMode="External"/><Relationship Id="rId7" Type="http://schemas.openxmlformats.org/officeDocument/2006/relationships/image" Target="../media/image10.tiff"/><Relationship Id="rId8" Type="http://schemas.openxmlformats.org/officeDocument/2006/relationships/hyperlink" Target="tel:123-456%2078%209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35C2B-4659-7340-2887-FFCC10D45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Rektangel">
            <a:extLst>
              <a:ext uri="{FF2B5EF4-FFF2-40B4-BE49-F238E27FC236}">
                <a16:creationId xmlns:a16="http://schemas.microsoft.com/office/drawing/2014/main" id="{609C0822-FA25-1B2D-7CB0-D50E6EE16D7A}"/>
              </a:ext>
            </a:extLst>
          </p:cNvPr>
          <p:cNvSpPr/>
          <p:nvPr/>
        </p:nvSpPr>
        <p:spPr>
          <a:xfrm>
            <a:off x="-33536" y="-16140"/>
            <a:ext cx="24451072" cy="1374828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19" name="TextBox 14">
            <a:extLst>
              <a:ext uri="{FF2B5EF4-FFF2-40B4-BE49-F238E27FC236}">
                <a16:creationId xmlns:a16="http://schemas.microsoft.com/office/drawing/2014/main" id="{3234727A-8BB7-29B2-186C-369FF2F275BC}"/>
              </a:ext>
            </a:extLst>
          </p:cNvPr>
          <p:cNvSpPr txBox="1"/>
          <p:nvPr/>
        </p:nvSpPr>
        <p:spPr>
          <a:xfrm>
            <a:off x="70297" y="6278781"/>
            <a:ext cx="24384001" cy="1138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defTabSz="1828800">
              <a:defRPr sz="7400" b="1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Monthly Portfolio Company report</a:t>
            </a:r>
            <a:endParaRPr dirty="0"/>
          </a:p>
        </p:txBody>
      </p:sp>
      <p:pic>
        <p:nvPicPr>
          <p:cNvPr id="3" name="Bild" descr="Bild">
            <a:extLst>
              <a:ext uri="{FF2B5EF4-FFF2-40B4-BE49-F238E27FC236}">
                <a16:creationId xmlns:a16="http://schemas.microsoft.com/office/drawing/2014/main" id="{D42665B3-B8CC-30F4-8693-3B8B541ED58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41095" y="12659502"/>
            <a:ext cx="3084744" cy="488275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672234128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C0DF0-7AA1-262A-C40C-BEAAFAC50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TextBox 1">
            <a:extLst>
              <a:ext uri="{FF2B5EF4-FFF2-40B4-BE49-F238E27FC236}">
                <a16:creationId xmlns:a16="http://schemas.microsoft.com/office/drawing/2014/main" id="{F5C17872-1FE7-A74D-90C1-D8CBFB7C1435}"/>
              </a:ext>
            </a:extLst>
          </p:cNvPr>
          <p:cNvSpPr txBox="1"/>
          <p:nvPr/>
        </p:nvSpPr>
        <p:spPr>
          <a:xfrm>
            <a:off x="1678113" y="1270843"/>
            <a:ext cx="21423186" cy="1015663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l" defTabSz="1828800">
              <a:defRPr sz="7400" b="1">
                <a:solidFill>
                  <a:srgbClr val="000000"/>
                </a:solidFill>
              </a:defRPr>
            </a:pPr>
            <a:r>
              <a:rPr lang="en-GB" sz="6600" cap="all" dirty="0"/>
              <a:t>Portfolio Company Heatmap</a:t>
            </a:r>
          </a:p>
        </p:txBody>
      </p:sp>
      <p:sp>
        <p:nvSpPr>
          <p:cNvPr id="224" name="Straight Connector 3">
            <a:extLst>
              <a:ext uri="{FF2B5EF4-FFF2-40B4-BE49-F238E27FC236}">
                <a16:creationId xmlns:a16="http://schemas.microsoft.com/office/drawing/2014/main" id="{885AAD22-F27B-A3BE-F921-8833B66FB67A}"/>
              </a:ext>
            </a:extLst>
          </p:cNvPr>
          <p:cNvSpPr/>
          <p:nvPr/>
        </p:nvSpPr>
        <p:spPr>
          <a:xfrm flipH="1" flipV="1">
            <a:off x="-1" y="1840230"/>
            <a:ext cx="1235242" cy="0"/>
          </a:xfrm>
          <a:prstGeom prst="line">
            <a:avLst/>
          </a:prstGeom>
          <a:ln w="762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 algn="l" defTabSz="1828800">
              <a:defRPr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pic>
        <p:nvPicPr>
          <p:cNvPr id="3" name="Bild" descr="Bild">
            <a:extLst>
              <a:ext uri="{FF2B5EF4-FFF2-40B4-BE49-F238E27FC236}">
                <a16:creationId xmlns:a16="http://schemas.microsoft.com/office/drawing/2014/main" id="{78121163-F5B6-8040-54AB-708755D8707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93767" y="12693280"/>
            <a:ext cx="3107532" cy="491067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Straight Connector 3">
            <a:extLst>
              <a:ext uri="{FF2B5EF4-FFF2-40B4-BE49-F238E27FC236}">
                <a16:creationId xmlns:a16="http://schemas.microsoft.com/office/drawing/2014/main" id="{FD0499AA-9F2E-DD7D-ADB2-FBC96DC41C79}"/>
              </a:ext>
            </a:extLst>
          </p:cNvPr>
          <p:cNvSpPr/>
          <p:nvPr/>
        </p:nvSpPr>
        <p:spPr>
          <a:xfrm flipH="1" flipV="1">
            <a:off x="1246186" y="12520580"/>
            <a:ext cx="21855113" cy="0"/>
          </a:xfrm>
          <a:prstGeom prst="line">
            <a:avLst/>
          </a:prstGeom>
          <a:ln w="381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 algn="l" defTabSz="1828800">
              <a:defRPr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50AB67F9-7911-2FB0-EDAA-3A008C575D6D}"/>
              </a:ext>
            </a:extLst>
          </p:cNvPr>
          <p:cNvSpPr txBox="1"/>
          <p:nvPr/>
        </p:nvSpPr>
        <p:spPr>
          <a:xfrm>
            <a:off x="1246187" y="12708070"/>
            <a:ext cx="10093578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08000" tIns="0" rIns="0" bIns="0">
            <a:spAutoFit/>
          </a:bodyPr>
          <a:lstStyle>
            <a:lvl1pPr algn="l" defTabSz="1828800">
              <a:defRPr sz="2800" b="1" cap="all" spc="1000">
                <a:solidFill>
                  <a:srgbClr val="000000"/>
                </a:solidFill>
              </a:defRPr>
            </a:lvl1pPr>
          </a:lstStyle>
          <a:p>
            <a:r>
              <a:rPr lang="en-GB" dirty="0"/>
              <a:t>CEO update</a:t>
            </a:r>
          </a:p>
        </p:txBody>
      </p: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978158BD-CC14-4E7D-7535-15B728667EC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3414474"/>
              </p:ext>
            </p:extLst>
          </p:nvPr>
        </p:nvGraphicFramePr>
        <p:xfrm>
          <a:off x="1678113" y="2448319"/>
          <a:ext cx="21423187" cy="97001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2316">
                  <a:extLst>
                    <a:ext uri="{9D8B030D-6E8A-4147-A177-3AD203B41FA5}">
                      <a16:colId xmlns:a16="http://schemas.microsoft.com/office/drawing/2014/main" val="2626237827"/>
                    </a:ext>
                  </a:extLst>
                </a:gridCol>
                <a:gridCol w="2460171">
                  <a:extLst>
                    <a:ext uri="{9D8B030D-6E8A-4147-A177-3AD203B41FA5}">
                      <a16:colId xmlns:a16="http://schemas.microsoft.com/office/drawing/2014/main" val="689197644"/>
                    </a:ext>
                  </a:extLst>
                </a:gridCol>
                <a:gridCol w="1259221">
                  <a:extLst>
                    <a:ext uri="{9D8B030D-6E8A-4147-A177-3AD203B41FA5}">
                      <a16:colId xmlns:a16="http://schemas.microsoft.com/office/drawing/2014/main" val="1828978554"/>
                    </a:ext>
                  </a:extLst>
                </a:gridCol>
                <a:gridCol w="1259221">
                  <a:extLst>
                    <a:ext uri="{9D8B030D-6E8A-4147-A177-3AD203B41FA5}">
                      <a16:colId xmlns:a16="http://schemas.microsoft.com/office/drawing/2014/main" val="1816022343"/>
                    </a:ext>
                  </a:extLst>
                </a:gridCol>
                <a:gridCol w="2031787">
                  <a:extLst>
                    <a:ext uri="{9D8B030D-6E8A-4147-A177-3AD203B41FA5}">
                      <a16:colId xmlns:a16="http://schemas.microsoft.com/office/drawing/2014/main" val="4131688362"/>
                    </a:ext>
                  </a:extLst>
                </a:gridCol>
                <a:gridCol w="1633380">
                  <a:extLst>
                    <a:ext uri="{9D8B030D-6E8A-4147-A177-3AD203B41FA5}">
                      <a16:colId xmlns:a16="http://schemas.microsoft.com/office/drawing/2014/main" val="1275507535"/>
                    </a:ext>
                  </a:extLst>
                </a:gridCol>
                <a:gridCol w="1383097">
                  <a:extLst>
                    <a:ext uri="{9D8B030D-6E8A-4147-A177-3AD203B41FA5}">
                      <a16:colId xmlns:a16="http://schemas.microsoft.com/office/drawing/2014/main" val="1456504008"/>
                    </a:ext>
                  </a:extLst>
                </a:gridCol>
                <a:gridCol w="1383097">
                  <a:extLst>
                    <a:ext uri="{9D8B030D-6E8A-4147-A177-3AD203B41FA5}">
                      <a16:colId xmlns:a16="http://schemas.microsoft.com/office/drawing/2014/main" val="100947610"/>
                    </a:ext>
                  </a:extLst>
                </a:gridCol>
                <a:gridCol w="1383097">
                  <a:extLst>
                    <a:ext uri="{9D8B030D-6E8A-4147-A177-3AD203B41FA5}">
                      <a16:colId xmlns:a16="http://schemas.microsoft.com/office/drawing/2014/main" val="2989243415"/>
                    </a:ext>
                  </a:extLst>
                </a:gridCol>
                <a:gridCol w="1383097">
                  <a:extLst>
                    <a:ext uri="{9D8B030D-6E8A-4147-A177-3AD203B41FA5}">
                      <a16:colId xmlns:a16="http://schemas.microsoft.com/office/drawing/2014/main" val="2000271759"/>
                    </a:ext>
                  </a:extLst>
                </a:gridCol>
                <a:gridCol w="1383097">
                  <a:extLst>
                    <a:ext uri="{9D8B030D-6E8A-4147-A177-3AD203B41FA5}">
                      <a16:colId xmlns:a16="http://schemas.microsoft.com/office/drawing/2014/main" val="1217870560"/>
                    </a:ext>
                  </a:extLst>
                </a:gridCol>
                <a:gridCol w="1383097">
                  <a:extLst>
                    <a:ext uri="{9D8B030D-6E8A-4147-A177-3AD203B41FA5}">
                      <a16:colId xmlns:a16="http://schemas.microsoft.com/office/drawing/2014/main" val="3757581237"/>
                    </a:ext>
                  </a:extLst>
                </a:gridCol>
                <a:gridCol w="1383097">
                  <a:extLst>
                    <a:ext uri="{9D8B030D-6E8A-4147-A177-3AD203B41FA5}">
                      <a16:colId xmlns:a16="http://schemas.microsoft.com/office/drawing/2014/main" val="894434728"/>
                    </a:ext>
                  </a:extLst>
                </a:gridCol>
                <a:gridCol w="2435412">
                  <a:extLst>
                    <a:ext uri="{9D8B030D-6E8A-4147-A177-3AD203B41FA5}">
                      <a16:colId xmlns:a16="http://schemas.microsoft.com/office/drawing/2014/main" val="2691325221"/>
                    </a:ext>
                  </a:extLst>
                </a:gridCol>
              </a:tblGrid>
              <a:tr h="648463">
                <a:tc>
                  <a:txBody>
                    <a:bodyPr/>
                    <a:lstStyle/>
                    <a:p>
                      <a:endParaRPr lang="en-CH" sz="1800" b="1" dirty="0">
                        <a:solidFill>
                          <a:schemeClr val="bg1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rgbClr val="000000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sv-SE" sz="1800" b="1">
                          <a:solidFill>
                            <a:schemeClr val="bg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Portfolio company</a:t>
                      </a:r>
                      <a:endParaRPr lang="en-CH" sz="1800" b="1" dirty="0">
                        <a:solidFill>
                          <a:schemeClr val="bg1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sv-SE" sz="1800" b="1">
                          <a:solidFill>
                            <a:schemeClr val="bg1"/>
                          </a:solidFill>
                          <a:latin typeface="Helvetica Neue" panose="02000503000000020004" pitchFamily="2" charset="0"/>
                        </a:rPr>
                        <a:t>7D involvement</a:t>
                      </a:r>
                      <a:endParaRPr lang="en-CH" sz="1800" b="1" dirty="0">
                        <a:solidFill>
                          <a:schemeClr val="bg1"/>
                        </a:solidFill>
                        <a:latin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82685" marR="82685" marT="41343" marB="41343" anchor="ctr">
                    <a:solidFill>
                      <a:srgbClr val="0000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sv-SE" sz="1800" b="1">
                          <a:solidFill>
                            <a:schemeClr val="bg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Investment thesis</a:t>
                      </a:r>
                      <a:endParaRPr lang="en-CH" sz="1800" b="1" dirty="0">
                        <a:solidFill>
                          <a:schemeClr val="bg1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00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sv-SE" sz="1800" b="1">
                          <a:solidFill>
                            <a:schemeClr val="bg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Performance</a:t>
                      </a:r>
                      <a:endParaRPr lang="en-CH" sz="1800" b="1" dirty="0">
                        <a:solidFill>
                          <a:schemeClr val="bg1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0000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sv-SE" sz="1800" b="1">
                          <a:solidFill>
                            <a:schemeClr val="bg1"/>
                          </a:solidFill>
                          <a:latin typeface="Helvetica Neue" panose="02000503000000020004" pitchFamily="2" charset="0"/>
                        </a:rPr>
                        <a:t>Financing</a:t>
                      </a:r>
                      <a:endParaRPr lang="en-CH" sz="1800" b="1" dirty="0">
                        <a:solidFill>
                          <a:schemeClr val="bg1"/>
                        </a:solidFill>
                        <a:latin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82685" marR="82685" marT="41343" marB="4134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CH" sz="1800" b="1" dirty="0">
                        <a:solidFill>
                          <a:schemeClr val="bg1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sv-S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sv-S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sv-S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CH" sz="1800" b="1" dirty="0">
                        <a:solidFill>
                          <a:schemeClr val="bg1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00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sv-SE" sz="1800" b="1">
                          <a:solidFill>
                            <a:schemeClr val="bg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Exit timing</a:t>
                      </a:r>
                      <a:endParaRPr lang="en-CH" sz="1800" b="1" dirty="0">
                        <a:solidFill>
                          <a:schemeClr val="bg1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9649136"/>
                  </a:ext>
                </a:extLst>
              </a:tr>
              <a:tr h="817267">
                <a:tc>
                  <a:txBody>
                    <a:bodyPr/>
                    <a:lstStyle/>
                    <a:p>
                      <a:endParaRPr lang="en-CH" sz="1800" b="1" dirty="0">
                        <a:solidFill>
                          <a:schemeClr val="bg1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rgbClr val="0000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CH" sz="1800" b="1" dirty="0">
                        <a:solidFill>
                          <a:schemeClr val="bg1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 b="1">
                          <a:solidFill>
                            <a:schemeClr val="bg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Lead</a:t>
                      </a:r>
                      <a:endParaRPr lang="en-CH" sz="1800" b="1" dirty="0">
                        <a:solidFill>
                          <a:schemeClr val="bg1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 b="1">
                          <a:solidFill>
                            <a:schemeClr val="bg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Support</a:t>
                      </a:r>
                      <a:endParaRPr lang="en-CH" sz="1800" b="1" dirty="0">
                        <a:solidFill>
                          <a:schemeClr val="bg1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rgbClr val="0000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CH" sz="1800" b="1" dirty="0">
                        <a:solidFill>
                          <a:schemeClr val="bg1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00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CH" sz="1800" b="1" dirty="0">
                        <a:solidFill>
                          <a:schemeClr val="bg1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 b="1">
                          <a:solidFill>
                            <a:schemeClr val="bg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Financing summary</a:t>
                      </a:r>
                      <a:endParaRPr lang="en-CH" sz="1800" b="1" dirty="0">
                        <a:solidFill>
                          <a:schemeClr val="bg1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 b="1">
                          <a:solidFill>
                            <a:schemeClr val="bg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Covenant issue</a:t>
                      </a:r>
                      <a:endParaRPr lang="en-CH" sz="1800" b="1" dirty="0">
                        <a:solidFill>
                          <a:schemeClr val="bg1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 b="1">
                          <a:solidFill>
                            <a:schemeClr val="bg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Amount</a:t>
                      </a:r>
                      <a:endParaRPr lang="en-CH" sz="1800" b="1" dirty="0">
                        <a:solidFill>
                          <a:schemeClr val="bg1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 b="1">
                          <a:solidFill>
                            <a:schemeClr val="bg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Type</a:t>
                      </a:r>
                      <a:endParaRPr lang="en-CH" sz="1800" b="1" dirty="0">
                        <a:solidFill>
                          <a:schemeClr val="bg1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 b="1">
                          <a:solidFill>
                            <a:schemeClr val="bg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7D Amount</a:t>
                      </a:r>
                      <a:endParaRPr lang="en-CH" sz="1800" b="1" dirty="0">
                        <a:solidFill>
                          <a:schemeClr val="bg1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 b="1">
                          <a:solidFill>
                            <a:schemeClr val="bg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Timing</a:t>
                      </a:r>
                      <a:endParaRPr lang="en-CH" sz="1800" b="1" dirty="0">
                        <a:solidFill>
                          <a:schemeClr val="bg1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 b="1">
                          <a:solidFill>
                            <a:schemeClr val="bg1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7D rescue amount</a:t>
                      </a:r>
                      <a:endParaRPr lang="en-CH" sz="1800" b="1" dirty="0">
                        <a:solidFill>
                          <a:schemeClr val="bg1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00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CH" sz="1800" b="1" dirty="0">
                        <a:solidFill>
                          <a:schemeClr val="bg1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9316758"/>
                  </a:ext>
                </a:extLst>
              </a:tr>
              <a:tr h="594134">
                <a:tc rowSpan="7">
                  <a:txBody>
                    <a:bodyPr/>
                    <a:lstStyle/>
                    <a:p>
                      <a:r>
                        <a:rPr lang="sv-SE" sz="1800" b="1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Core Holdings</a:t>
                      </a:r>
                      <a:endParaRPr lang="en-CH" sz="1800" b="1" dirty="0">
                        <a:solidFill>
                          <a:srgbClr val="000000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vert="vert27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H" sz="1800" b="1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Kvaser</a:t>
                      </a:r>
                      <a:r>
                        <a:rPr lang="en-GB" sz="1800" b="1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</a:t>
                      </a:r>
                      <a:endParaRPr lang="en-CH" sz="1800" b="1" dirty="0">
                        <a:solidFill>
                          <a:srgbClr val="000000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E7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NI/JA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AJ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OK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sv-SE" sz="1800" b="0" i="0" u="none" strike="noStrike" cap="none" spc="0" baseline="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Helvetica Neue"/>
                        </a:rPr>
                        <a:t>Improving</a:t>
                      </a:r>
                      <a:endParaRPr lang="en-CH" sz="1800" b="0" i="0" u="none" strike="noStrike" cap="none" spc="0" baseline="0" dirty="0">
                        <a:solidFill>
                          <a:schemeClr val="tx1">
                            <a:lumMod val="50000"/>
                          </a:schemeClr>
                        </a:solidFill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  <a:sym typeface="Helvetica Neue"/>
                      </a:endParaRPr>
                    </a:p>
                  </a:txBody>
                  <a:tcPr marL="82685" marR="82685" marT="41343" marB="41343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sv-SE" sz="1800" b="0" i="0" u="none" strike="noStrike" cap="none" spc="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Helvetica Neue"/>
                        </a:rPr>
                        <a:t>OK</a:t>
                      </a:r>
                      <a:endParaRPr lang="en-CH" sz="1800" b="0" i="0" u="none" strike="noStrike" cap="none" spc="0" baseline="0" dirty="0">
                        <a:solidFill>
                          <a:schemeClr val="tx1">
                            <a:lumMod val="50000"/>
                          </a:schemeClr>
                        </a:solidFill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  <a:sym typeface="Helvetica Neue"/>
                      </a:endParaRPr>
                    </a:p>
                  </a:txBody>
                  <a:tcPr marL="82685" marR="82685" marT="41343" marB="41343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sv-SE" sz="1800" b="0" i="0" u="none" strike="noStrike" cap="none" spc="0" baseline="0">
                          <a:solidFill>
                            <a:schemeClr val="tx1">
                              <a:lumMod val="50000"/>
                            </a:schemeClr>
                          </a:solidFill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Helvetica Neue"/>
                        </a:rPr>
                        <a:t>No</a:t>
                      </a:r>
                      <a:endParaRPr lang="en-CH" sz="1800" b="0" i="0" u="none" strike="noStrike" cap="none" spc="0" baseline="0" dirty="0">
                        <a:solidFill>
                          <a:schemeClr val="tx1">
                            <a:lumMod val="50000"/>
                          </a:schemeClr>
                        </a:solidFill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  <a:sym typeface="Helvetica Neue"/>
                      </a:endParaRPr>
                    </a:p>
                  </a:txBody>
                  <a:tcPr marL="82685" marR="82685" marT="41343" marB="41343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sv-SE" sz="1800" b="0" i="0" u="none" strike="noStrike" cap="none" spc="0" baseline="0">
                          <a:solidFill>
                            <a:schemeClr val="tx1">
                              <a:lumMod val="50000"/>
                            </a:schemeClr>
                          </a:solidFill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Helvetica Neue"/>
                        </a:rPr>
                        <a:t>n/a</a:t>
                      </a:r>
                      <a:endParaRPr lang="en-CH" sz="1800" b="0" i="0" u="none" strike="noStrike" cap="none" spc="0" baseline="0" dirty="0">
                        <a:solidFill>
                          <a:schemeClr val="tx1">
                            <a:lumMod val="50000"/>
                          </a:schemeClr>
                        </a:solidFill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  <a:sym typeface="Helvetica Neue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8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n/a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8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n/a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sv-SE" sz="1800" b="0" i="0" u="none" strike="noStrike" cap="none" spc="0" baseline="0">
                          <a:solidFill>
                            <a:schemeClr val="tx1">
                              <a:lumMod val="50000"/>
                            </a:schemeClr>
                          </a:solidFill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Helvetica Neue"/>
                        </a:rPr>
                        <a:t>n/a</a:t>
                      </a:r>
                      <a:endParaRPr lang="en-CH" sz="1800" b="0" i="0" u="none" strike="noStrike" cap="none" spc="0" baseline="0" dirty="0">
                        <a:solidFill>
                          <a:schemeClr val="tx1">
                            <a:lumMod val="50000"/>
                          </a:schemeClr>
                        </a:solidFill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  <a:sym typeface="Helvetica Neue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8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n/a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sv-SE" sz="1800" b="0" i="0" u="none" strike="noStrike" cap="none" spc="0" baseline="0">
                          <a:solidFill>
                            <a:schemeClr val="tx1">
                              <a:lumMod val="50000"/>
                            </a:schemeClr>
                          </a:solidFill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Helvetica Neue"/>
                        </a:rPr>
                        <a:t>Pot. Industrial Group</a:t>
                      </a:r>
                      <a:endParaRPr lang="en-CH" sz="1800" b="0" i="0" u="none" strike="noStrike" cap="none" spc="0" baseline="0" dirty="0">
                        <a:solidFill>
                          <a:schemeClr val="tx1">
                            <a:lumMod val="50000"/>
                          </a:schemeClr>
                        </a:solidFill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  <a:sym typeface="Helvetica Neue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8958716"/>
                  </a:ext>
                </a:extLst>
              </a:tr>
              <a:tr h="662633">
                <a:tc vMerge="1">
                  <a:txBody>
                    <a:bodyPr/>
                    <a:lstStyle/>
                    <a:p>
                      <a:endParaRPr lang="en-CH" sz="1800" b="1" dirty="0">
                        <a:solidFill>
                          <a:srgbClr val="000000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H" sz="1800" b="1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Rapid Images</a:t>
                      </a:r>
                      <a:endParaRPr lang="en-CH" sz="1800" b="1" dirty="0">
                        <a:solidFill>
                          <a:srgbClr val="000000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E7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>
                          <a:solidFill>
                            <a:srgbClr val="00206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AJ</a:t>
                      </a:r>
                      <a:endParaRPr lang="en-CH" sz="1800" dirty="0">
                        <a:solidFill>
                          <a:srgbClr val="002060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>
                          <a:solidFill>
                            <a:srgbClr val="00206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TBD</a:t>
                      </a:r>
                      <a:endParaRPr lang="en-CH" sz="1800" dirty="0">
                        <a:solidFill>
                          <a:srgbClr val="002060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 dirty="0">
                          <a:solidFill>
                            <a:srgbClr val="00206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Under transformation</a:t>
                      </a:r>
                      <a:endParaRPr lang="en-CH" sz="1800" dirty="0">
                        <a:solidFill>
                          <a:srgbClr val="002060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800" b="0" i="0" u="none" strike="noStrike" cap="none" spc="0" baseline="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Helvetica Neue"/>
                        </a:rPr>
                        <a:t>Uncertain</a:t>
                      </a:r>
                      <a:endParaRPr lang="en-CH" sz="1800" b="0" i="0" u="none" strike="noStrike" cap="none" spc="0" baseline="0" dirty="0">
                        <a:solidFill>
                          <a:schemeClr val="tx1">
                            <a:lumMod val="50000"/>
                          </a:schemeClr>
                        </a:solidFill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  <a:sym typeface="Helvetica Neue"/>
                      </a:endParaRPr>
                    </a:p>
                  </a:txBody>
                  <a:tcPr marL="82685" marR="82685" marT="41343" marB="41343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sv-SE" sz="1800" b="0" i="0" u="none" strike="noStrike" cap="none" spc="0" baseline="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Helvetica Neue"/>
                        </a:rPr>
                        <a:t>Weak</a:t>
                      </a:r>
                      <a:r>
                        <a:rPr lang="sv-SE" sz="1800" b="0" i="0" u="none" strike="noStrike" cap="none" spc="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Helvetica Neue"/>
                        </a:rPr>
                        <a:t> trading</a:t>
                      </a:r>
                      <a:endParaRPr lang="en-CH" sz="1800" b="0" i="0" u="none" strike="noStrike" cap="none" spc="0" baseline="0" dirty="0">
                        <a:solidFill>
                          <a:schemeClr val="tx1">
                            <a:lumMod val="50000"/>
                          </a:schemeClr>
                        </a:solidFill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  <a:sym typeface="Helvetica Neue"/>
                      </a:endParaRPr>
                    </a:p>
                  </a:txBody>
                  <a:tcPr marL="82685" marR="82685" marT="41343" marB="41343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sv-SE" sz="1800" b="0" i="0" u="none" strike="noStrike" cap="none" spc="0" baseline="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Helvetica Neue"/>
                        </a:rPr>
                        <a:t>Yes</a:t>
                      </a:r>
                      <a:r>
                        <a:rPr lang="sv-SE" sz="1800" b="0" i="0" u="none" strike="noStrike" cap="none" spc="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Helvetica Neue"/>
                        </a:rPr>
                        <a:t>, </a:t>
                      </a:r>
                      <a:r>
                        <a:rPr lang="sv-SE" sz="1800" b="0" i="0" u="none" strike="noStrike" cap="none" spc="0" baseline="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Helvetica Neue"/>
                        </a:rPr>
                        <a:t>breach</a:t>
                      </a:r>
                      <a:r>
                        <a:rPr lang="sv-SE" sz="1800" b="0" i="0" u="none" strike="noStrike" cap="none" spc="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Helvetica Neue"/>
                        </a:rPr>
                        <a:t> Q1</a:t>
                      </a:r>
                      <a:endParaRPr lang="en-CH" sz="1800" b="0" i="0" u="none" strike="noStrike" cap="none" spc="0" baseline="0" dirty="0">
                        <a:solidFill>
                          <a:schemeClr val="tx1">
                            <a:lumMod val="50000"/>
                          </a:schemeClr>
                        </a:solidFill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  <a:sym typeface="Helvetica Neue"/>
                      </a:endParaRPr>
                    </a:p>
                  </a:txBody>
                  <a:tcPr marL="82685" marR="82685" marT="41343" marB="41343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sv-SE" sz="1800" b="0" i="0" u="none" strike="noStrike" cap="none" spc="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Helvetica Neue"/>
                        </a:rPr>
                        <a:t>5</a:t>
                      </a:r>
                      <a:endParaRPr lang="en-CH" sz="1800" b="0" i="0" u="none" strike="noStrike" cap="none" spc="0" baseline="0" dirty="0">
                        <a:solidFill>
                          <a:schemeClr val="tx1">
                            <a:lumMod val="50000"/>
                          </a:schemeClr>
                        </a:solidFill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  <a:sym typeface="Helvetica Neue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8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Defend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8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2.6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584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sv-SE" sz="1800" b="0" i="0" u="none" strike="noStrike" cap="none" spc="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Helvetica Neue"/>
                        </a:rPr>
                        <a:t>Q2’26</a:t>
                      </a:r>
                      <a:endParaRPr lang="en-CH" sz="1800" b="0" i="0" u="none" strike="noStrike" cap="none" spc="0" baseline="0" dirty="0">
                        <a:solidFill>
                          <a:schemeClr val="tx1">
                            <a:lumMod val="50000"/>
                          </a:schemeClr>
                        </a:solidFill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  <a:sym typeface="Helvetica Neue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8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n/a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sv-SE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5E5E5E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Helvetica Neue"/>
                        </a:rPr>
                        <a:t>2028</a:t>
                      </a:r>
                      <a:endParaRPr kumimoji="0" lang="en-CH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D5D5D5">
                            <a:lumMod val="10000"/>
                          </a:srgbClr>
                        </a:solidFill>
                        <a:effectLst/>
                        <a:uLnTx/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  <a:sym typeface="Helvetica Neue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86974"/>
                  </a:ext>
                </a:extLst>
              </a:tr>
              <a:tr h="690447">
                <a:tc vMerge="1">
                  <a:txBody>
                    <a:bodyPr/>
                    <a:lstStyle/>
                    <a:p>
                      <a:endParaRPr lang="en-CH" sz="1800" b="1" dirty="0">
                        <a:solidFill>
                          <a:srgbClr val="000000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v-SE" sz="1800" b="1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Cloud &amp; Compute</a:t>
                      </a:r>
                      <a:endParaRPr lang="en-CH" sz="1800" b="1" dirty="0">
                        <a:solidFill>
                          <a:srgbClr val="000000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E7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DA</a:t>
                      </a:r>
                      <a:endParaRPr lang="en-CH" sz="1800" dirty="0">
                        <a:solidFill>
                          <a:schemeClr val="bg2">
                            <a:lumMod val="1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SGS</a:t>
                      </a:r>
                      <a:endParaRPr lang="en-CH" sz="1800" dirty="0">
                        <a:solidFill>
                          <a:schemeClr val="bg2">
                            <a:lumMod val="1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Delayed</a:t>
                      </a:r>
                      <a:endParaRPr lang="en-CH" sz="1800" dirty="0">
                        <a:solidFill>
                          <a:schemeClr val="bg2">
                            <a:lumMod val="1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Strong Q1</a:t>
                      </a:r>
                      <a:endParaRPr lang="en-CH" sz="1800" dirty="0">
                        <a:solidFill>
                          <a:schemeClr val="bg2">
                            <a:lumMod val="1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OK</a:t>
                      </a:r>
                      <a:endParaRPr lang="en-CH" sz="1800" dirty="0">
                        <a:solidFill>
                          <a:schemeClr val="bg2">
                            <a:lumMod val="1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No</a:t>
                      </a:r>
                      <a:endParaRPr lang="en-CH" sz="1800" dirty="0">
                        <a:solidFill>
                          <a:schemeClr val="bg2">
                            <a:lumMod val="1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n/a</a:t>
                      </a:r>
                      <a:endParaRPr lang="en-CH" sz="1800" dirty="0">
                        <a:solidFill>
                          <a:schemeClr val="bg2">
                            <a:lumMod val="1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n/a</a:t>
                      </a:r>
                      <a:endParaRPr lang="en-CH" sz="1800" dirty="0">
                        <a:solidFill>
                          <a:schemeClr val="bg2">
                            <a:lumMod val="1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n/a</a:t>
                      </a:r>
                      <a:endParaRPr lang="en-CH" sz="1800" dirty="0">
                        <a:solidFill>
                          <a:schemeClr val="bg2">
                            <a:lumMod val="1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n/a</a:t>
                      </a:r>
                      <a:endParaRPr lang="en-CH" sz="1800" dirty="0">
                        <a:solidFill>
                          <a:schemeClr val="bg2">
                            <a:lumMod val="1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n/a</a:t>
                      </a:r>
                      <a:endParaRPr lang="en-CH" sz="1800" dirty="0">
                        <a:solidFill>
                          <a:schemeClr val="bg2">
                            <a:lumMod val="1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sv-SE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5E5E5E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Helvetica Neue"/>
                        </a:rPr>
                        <a:t>2029</a:t>
                      </a:r>
                      <a:endParaRPr kumimoji="0" lang="en-CH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D5D5D5">
                            <a:lumMod val="10000"/>
                          </a:srgbClr>
                        </a:solidFill>
                        <a:effectLst/>
                        <a:uLnTx/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  <a:sym typeface="Helvetica Neue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2034453"/>
                  </a:ext>
                </a:extLst>
              </a:tr>
              <a:tr h="943369">
                <a:tc vMerge="1">
                  <a:txBody>
                    <a:bodyPr/>
                    <a:lstStyle/>
                    <a:p>
                      <a:endParaRPr lang="en-CH" sz="1800" b="1" dirty="0">
                        <a:solidFill>
                          <a:srgbClr val="000000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H" sz="1800" b="1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Ocean Collective</a:t>
                      </a:r>
                      <a:endParaRPr lang="en-CH" sz="1800" b="1" dirty="0">
                        <a:solidFill>
                          <a:srgbClr val="000000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E7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AJ</a:t>
                      </a:r>
                      <a:endParaRPr lang="en-CH" sz="1800" dirty="0">
                        <a:solidFill>
                          <a:schemeClr val="bg2">
                            <a:lumMod val="1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TBD</a:t>
                      </a:r>
                      <a:endParaRPr lang="en-CH" sz="1800" dirty="0">
                        <a:solidFill>
                          <a:schemeClr val="bg2">
                            <a:lumMod val="1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Delayed</a:t>
                      </a:r>
                      <a:r>
                        <a:rPr lang="sv-SE" sz="18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/ </a:t>
                      </a:r>
                      <a:r>
                        <a:rPr lang="sv-SE" sz="18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turnaround</a:t>
                      </a:r>
                      <a:endParaRPr lang="en-CH" sz="1800" dirty="0">
                        <a:solidFill>
                          <a:schemeClr val="bg2">
                            <a:lumMod val="1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Mixed / </a:t>
                      </a:r>
                      <a:r>
                        <a:rPr lang="sv-SE" sz="18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turnaround</a:t>
                      </a:r>
                      <a:endParaRPr lang="en-CH" sz="1800" dirty="0">
                        <a:solidFill>
                          <a:schemeClr val="bg2">
                            <a:lumMod val="1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Recap</a:t>
                      </a:r>
                      <a:r>
                        <a:rPr lang="sv-SE" sz="18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</a:t>
                      </a:r>
                      <a:r>
                        <a:rPr lang="sv-SE" sz="18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discussion</a:t>
                      </a:r>
                      <a:r>
                        <a:rPr lang="sv-SE" sz="18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</a:t>
                      </a:r>
                      <a:r>
                        <a:rPr lang="sv-SE" sz="18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with</a:t>
                      </a:r>
                      <a:r>
                        <a:rPr lang="sv-SE" sz="18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bank</a:t>
                      </a:r>
                      <a:endParaRPr lang="en-CH" sz="1800" dirty="0">
                        <a:solidFill>
                          <a:schemeClr val="bg2">
                            <a:lumMod val="1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Discussion</a:t>
                      </a:r>
                      <a:r>
                        <a:rPr lang="sv-SE" sz="18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</a:t>
                      </a:r>
                      <a:r>
                        <a:rPr lang="sv-SE" sz="18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with</a:t>
                      </a:r>
                      <a:r>
                        <a:rPr lang="sv-SE" sz="18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bank</a:t>
                      </a:r>
                      <a:endParaRPr lang="en-CH" sz="1800" dirty="0">
                        <a:solidFill>
                          <a:schemeClr val="bg2">
                            <a:lumMod val="1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n/a</a:t>
                      </a:r>
                      <a:endParaRPr lang="en-CH" sz="1800" dirty="0">
                        <a:solidFill>
                          <a:schemeClr val="bg2">
                            <a:lumMod val="1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n/a</a:t>
                      </a:r>
                      <a:endParaRPr lang="en-CH" sz="1800" dirty="0">
                        <a:solidFill>
                          <a:schemeClr val="bg2">
                            <a:lumMod val="1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n/a</a:t>
                      </a:r>
                      <a:endParaRPr lang="en-CH" sz="1800" dirty="0">
                        <a:solidFill>
                          <a:schemeClr val="bg2">
                            <a:lumMod val="1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n/a</a:t>
                      </a:r>
                      <a:endParaRPr lang="en-CH" sz="1800" dirty="0">
                        <a:solidFill>
                          <a:schemeClr val="bg2">
                            <a:lumMod val="1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n/a</a:t>
                      </a:r>
                      <a:endParaRPr lang="en-CH" sz="1800" dirty="0">
                        <a:solidFill>
                          <a:schemeClr val="bg2">
                            <a:lumMod val="1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sv-SE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5E5E5E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Helvetica Neue"/>
                        </a:rPr>
                        <a:t>2028</a:t>
                      </a:r>
                      <a:endParaRPr kumimoji="0" lang="en-CH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D5D5D5">
                            <a:lumMod val="10000"/>
                          </a:srgbClr>
                        </a:solidFill>
                        <a:effectLst/>
                        <a:uLnTx/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  <a:sym typeface="Helvetica Neue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5318837"/>
                  </a:ext>
                </a:extLst>
              </a:tr>
              <a:tr h="690447">
                <a:tc vMerge="1">
                  <a:txBody>
                    <a:bodyPr/>
                    <a:lstStyle/>
                    <a:p>
                      <a:endParaRPr lang="en-CH" sz="1800" b="1" dirty="0">
                        <a:solidFill>
                          <a:srgbClr val="000000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H" sz="1800" b="1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Acre</a:t>
                      </a:r>
                      <a:endParaRPr lang="en-CH" sz="1800" b="1" dirty="0">
                        <a:solidFill>
                          <a:srgbClr val="000000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E7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SGS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DA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OK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Weak</a:t>
                      </a:r>
                      <a:r>
                        <a:rPr lang="sv-SE" sz="18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recent EBITDA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8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Equity for </a:t>
                      </a:r>
                      <a:r>
                        <a:rPr lang="sv-SE" sz="18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add</a:t>
                      </a:r>
                      <a:r>
                        <a:rPr lang="sv-SE" sz="18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-on</a:t>
                      </a:r>
                      <a:endParaRPr lang="en-CH" sz="1800" dirty="0">
                        <a:solidFill>
                          <a:schemeClr val="bg2">
                            <a:lumMod val="1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No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n/a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n/a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n/a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n/a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sv-SE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D5D5D5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Helvetica Neue"/>
                        </a:rPr>
                        <a:t>n/a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sv-SE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5E5E5E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Helvetica Neue"/>
                        </a:rPr>
                        <a:t>2026/2028</a:t>
                      </a:r>
                      <a:endParaRPr kumimoji="0" lang="en-CH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D5D5D5">
                            <a:lumMod val="10000"/>
                          </a:srgbClr>
                        </a:solidFill>
                        <a:effectLst/>
                        <a:uLnTx/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  <a:sym typeface="Helvetica Neue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6426083"/>
                  </a:ext>
                </a:extLst>
              </a:tr>
              <a:tr h="690447">
                <a:tc vMerge="1">
                  <a:txBody>
                    <a:bodyPr/>
                    <a:lstStyle/>
                    <a:p>
                      <a:endParaRPr lang="en-CH" sz="1800" b="1" dirty="0">
                        <a:solidFill>
                          <a:srgbClr val="000000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v-SE" sz="1800" b="1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Airolit</a:t>
                      </a:r>
                      <a:endParaRPr lang="en-CH" sz="1800" b="1" dirty="0">
                        <a:solidFill>
                          <a:srgbClr val="000000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E7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SGS</a:t>
                      </a:r>
                      <a:endParaRPr lang="en-CH" sz="1800" dirty="0">
                        <a:solidFill>
                          <a:schemeClr val="bg2">
                            <a:lumMod val="1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DA</a:t>
                      </a:r>
                      <a:endParaRPr lang="en-CH" sz="1800" dirty="0">
                        <a:solidFill>
                          <a:schemeClr val="bg2">
                            <a:lumMod val="1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OK</a:t>
                      </a:r>
                      <a:endParaRPr lang="en-CH" sz="1800" dirty="0">
                        <a:solidFill>
                          <a:schemeClr val="bg2">
                            <a:lumMod val="1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Growing</a:t>
                      </a:r>
                      <a:endParaRPr lang="en-CH" sz="1800" dirty="0">
                        <a:solidFill>
                          <a:schemeClr val="bg2">
                            <a:lumMod val="1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Equity </a:t>
                      </a:r>
                      <a:r>
                        <a:rPr lang="sv-SE" sz="18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needed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n/a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15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Defend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TBD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Q2’26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sv-SE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D5D5D5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Helvetica Neue"/>
                        </a:rPr>
                        <a:t>n/a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2026/2027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8826778"/>
                  </a:ext>
                </a:extLst>
              </a:tr>
              <a:tr h="662633">
                <a:tc vMerge="1">
                  <a:txBody>
                    <a:bodyPr/>
                    <a:lstStyle/>
                    <a:p>
                      <a:endParaRPr lang="en-CH" sz="1800" b="1" dirty="0">
                        <a:solidFill>
                          <a:srgbClr val="000000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H" sz="1800" b="1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I</a:t>
                      </a:r>
                      <a:r>
                        <a:rPr lang="sv-SE" sz="1800" b="1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</a:t>
                      </a:r>
                      <a:r>
                        <a:rPr lang="en-CH" sz="1800" b="1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retrn</a:t>
                      </a:r>
                      <a:endParaRPr lang="en-CH" sz="1800" b="1" dirty="0">
                        <a:solidFill>
                          <a:srgbClr val="000000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E7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AJ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TBD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OK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Growing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OK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n/a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n/a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n/a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n/a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n/a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sv-SE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D5D5D5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Helvetica Neue"/>
                        </a:rPr>
                        <a:t>n/a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2028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9500442"/>
                  </a:ext>
                </a:extLst>
              </a:tr>
              <a:tr h="662633">
                <a:tc rowSpan="2">
                  <a:txBody>
                    <a:bodyPr/>
                    <a:lstStyle/>
                    <a:p>
                      <a:r>
                        <a:rPr lang="sv-SE" sz="1800" b="1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Non-core holdings</a:t>
                      </a:r>
                      <a:endParaRPr lang="en-CH" sz="1800" b="1" dirty="0">
                        <a:solidFill>
                          <a:srgbClr val="000000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vert="vert27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H" sz="1800" b="1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Incipientus</a:t>
                      </a:r>
                      <a:endParaRPr lang="en-CH" sz="1800" b="1" dirty="0">
                        <a:solidFill>
                          <a:srgbClr val="000000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E7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PS</a:t>
                      </a:r>
                      <a:endParaRPr lang="en-CH" sz="1800" dirty="0">
                        <a:solidFill>
                          <a:schemeClr val="bg2">
                            <a:lumMod val="1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n/a</a:t>
                      </a:r>
                      <a:endParaRPr lang="en-CH" sz="1800" dirty="0">
                        <a:solidFill>
                          <a:schemeClr val="bg2">
                            <a:lumMod val="1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OK</a:t>
                      </a:r>
                    </a:p>
                  </a:txBody>
                  <a:tcPr marL="82685" marR="82685" marT="41343" marB="41343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Growing</a:t>
                      </a:r>
                      <a:endParaRPr lang="sv-SE" sz="1800" dirty="0">
                        <a:solidFill>
                          <a:schemeClr val="bg2">
                            <a:lumMod val="1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8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OK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8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n/a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n/a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n/a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n/a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n/a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sv-SE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D5D5D5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Helvetica Neue"/>
                        </a:rPr>
                        <a:t>n/a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2027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3382193"/>
                  </a:ext>
                </a:extLst>
              </a:tr>
              <a:tr h="594134">
                <a:tc vMerge="1">
                  <a:txBody>
                    <a:bodyPr/>
                    <a:lstStyle/>
                    <a:p>
                      <a:endParaRPr lang="en-CH" sz="1800" b="1" dirty="0">
                        <a:solidFill>
                          <a:srgbClr val="000000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H" sz="1800" b="1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Klint</a:t>
                      </a:r>
                      <a:endParaRPr lang="en-CH" sz="1800" b="1" dirty="0">
                        <a:solidFill>
                          <a:srgbClr val="000000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E7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PS</a:t>
                      </a:r>
                      <a:endParaRPr lang="en-CH" sz="1800" dirty="0">
                        <a:solidFill>
                          <a:schemeClr val="bg2">
                            <a:lumMod val="1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n/a</a:t>
                      </a:r>
                      <a:endParaRPr lang="en-CH" sz="1800" dirty="0">
                        <a:solidFill>
                          <a:schemeClr val="bg2">
                            <a:lumMod val="1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OK</a:t>
                      </a:r>
                      <a:endParaRPr lang="en-CH" sz="1800" dirty="0">
                        <a:solidFill>
                          <a:schemeClr val="bg2">
                            <a:lumMod val="1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Growing</a:t>
                      </a:r>
                      <a:endParaRPr lang="en-CH" sz="1800" dirty="0">
                        <a:solidFill>
                          <a:schemeClr val="bg2">
                            <a:lumMod val="1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8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OK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8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n/a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n/a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n/a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n/a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n/a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sv-SE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D5D5D5">
                              <a:lumMod val="10000"/>
                            </a:srgbClr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Helvetica Neue"/>
                        </a:rPr>
                        <a:t>n/a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2027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980925"/>
                  </a:ext>
                </a:extLst>
              </a:tr>
              <a:tr h="690447">
                <a:tc rowSpan="3">
                  <a:txBody>
                    <a:bodyPr/>
                    <a:lstStyle/>
                    <a:p>
                      <a:r>
                        <a:rPr lang="sv-SE" sz="1800" b="1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Under divestment</a:t>
                      </a:r>
                      <a:endParaRPr lang="en-CH" sz="1800" b="1" dirty="0">
                        <a:solidFill>
                          <a:srgbClr val="000000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vert="vert27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v-SE" sz="1800" b="1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Qamcom</a:t>
                      </a:r>
                      <a:endParaRPr lang="en-CH" sz="1800" b="1" dirty="0">
                        <a:solidFill>
                          <a:srgbClr val="000000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E7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AJ</a:t>
                      </a:r>
                      <a:endParaRPr lang="en-CH" sz="1800" dirty="0">
                        <a:solidFill>
                          <a:schemeClr val="bg2">
                            <a:lumMod val="1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SGS</a:t>
                      </a:r>
                      <a:endParaRPr lang="en-CH" sz="1800" dirty="0">
                        <a:solidFill>
                          <a:schemeClr val="bg2">
                            <a:lumMod val="1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Divest</a:t>
                      </a:r>
                      <a:endParaRPr lang="en-CH" sz="1800" dirty="0">
                        <a:solidFill>
                          <a:schemeClr val="bg2">
                            <a:lumMod val="1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Uncertain</a:t>
                      </a:r>
                      <a:endParaRPr lang="en-CH" sz="1800" dirty="0">
                        <a:solidFill>
                          <a:schemeClr val="bg2">
                            <a:lumMod val="1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8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Stable</a:t>
                      </a:r>
                      <a:r>
                        <a:rPr lang="sv-SE" sz="18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(short-term)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8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n/a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n/a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n/a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n/a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n/a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n/a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2026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2416933"/>
                  </a:ext>
                </a:extLst>
              </a:tr>
              <a:tr h="690447">
                <a:tc vMerge="1">
                  <a:txBody>
                    <a:bodyPr/>
                    <a:lstStyle/>
                    <a:p>
                      <a:endParaRPr lang="en-CH" sz="1800" b="1" dirty="0">
                        <a:solidFill>
                          <a:srgbClr val="000000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v-SE" sz="1800" b="1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Visiba</a:t>
                      </a:r>
                      <a:endParaRPr lang="en-CH" sz="1800" b="1" dirty="0">
                        <a:solidFill>
                          <a:srgbClr val="000000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E7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AJ</a:t>
                      </a:r>
                      <a:endParaRPr lang="en-CH" sz="1800" dirty="0">
                        <a:solidFill>
                          <a:schemeClr val="bg2">
                            <a:lumMod val="1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n/a</a:t>
                      </a:r>
                      <a:endParaRPr lang="en-CH" sz="1800" dirty="0">
                        <a:solidFill>
                          <a:schemeClr val="bg2">
                            <a:lumMod val="1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Divest</a:t>
                      </a:r>
                      <a:endParaRPr lang="en-CH" sz="1800" dirty="0">
                        <a:solidFill>
                          <a:schemeClr val="bg2">
                            <a:lumMod val="1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Good</a:t>
                      </a:r>
                      <a:r>
                        <a:rPr lang="sv-SE" sz="18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 </a:t>
                      </a:r>
                      <a:r>
                        <a:rPr lang="sv-SE" sz="18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momentum</a:t>
                      </a:r>
                      <a:endParaRPr lang="en-CH" sz="1800" dirty="0">
                        <a:solidFill>
                          <a:schemeClr val="bg2">
                            <a:lumMod val="1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8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Strong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8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n/a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n/a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n/a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n/a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n/a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n/a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2027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615176"/>
                  </a:ext>
                </a:extLst>
              </a:tr>
              <a:tr h="662633">
                <a:tc vMerge="1">
                  <a:txBody>
                    <a:bodyPr/>
                    <a:lstStyle/>
                    <a:p>
                      <a:endParaRPr lang="en-CH" sz="1800" b="1" dirty="0">
                        <a:solidFill>
                          <a:srgbClr val="000000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H" sz="1800" b="1">
                          <a:solidFill>
                            <a:srgbClr val="000000"/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Devant</a:t>
                      </a:r>
                      <a:endParaRPr lang="en-CH" sz="1800" b="1" dirty="0">
                        <a:solidFill>
                          <a:srgbClr val="000000"/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E7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NI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AJ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Divest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Stable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8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OK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8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n/a</a:t>
                      </a:r>
                      <a:endParaRPr kumimoji="0" lang="en-CH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5E5E5E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  <a:sym typeface="Helvetica Neue"/>
                      </a:endParaRPr>
                    </a:p>
                  </a:txBody>
                  <a:tcPr marL="82685" marR="82685" marT="41343" marB="41343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8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n/a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n/a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n/a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n/a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n/a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sv-SE" sz="18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</a:rPr>
                        <a:t>2026</a:t>
                      </a:r>
                      <a:endParaRPr lang="en-CH" sz="1800" dirty="0">
                        <a:solidFill>
                          <a:schemeClr val="tx1">
                            <a:lumMod val="50000"/>
                          </a:schemeClr>
                        </a:solidFill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endParaRPr>
                    </a:p>
                  </a:txBody>
                  <a:tcPr marL="82685" marR="82685" marT="41343" marB="41343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6001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5406615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5FF8E-F30E-C0F8-411D-D1138C176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 1">
            <a:extLst>
              <a:ext uri="{FF2B5EF4-FFF2-40B4-BE49-F238E27FC236}">
                <a16:creationId xmlns:a16="http://schemas.microsoft.com/office/drawing/2014/main" id="{7905AA58-81C6-39AD-2DBF-C0FAACA7940C}"/>
              </a:ext>
            </a:extLst>
          </p:cNvPr>
          <p:cNvSpPr/>
          <p:nvPr/>
        </p:nvSpPr>
        <p:spPr>
          <a:xfrm>
            <a:off x="3941835" y="9009220"/>
            <a:ext cx="722116" cy="722116"/>
          </a:xfrm>
          <a:prstGeom prst="ellipse">
            <a:avLst/>
          </a:prstGeom>
          <a:gradFill>
            <a:gsLst>
              <a:gs pos="0">
                <a:srgbClr val="FFFF00"/>
              </a:gs>
              <a:gs pos="100000">
                <a:srgbClr val="00B050"/>
              </a:gs>
            </a:gsLst>
            <a:lin ang="2700000" scaled="0"/>
          </a:gra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sv-SE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Ellips 5">
            <a:extLst>
              <a:ext uri="{FF2B5EF4-FFF2-40B4-BE49-F238E27FC236}">
                <a16:creationId xmlns:a16="http://schemas.microsoft.com/office/drawing/2014/main" id="{FC2D9824-7E5D-D043-C68B-460AE35DB34B}"/>
              </a:ext>
            </a:extLst>
          </p:cNvPr>
          <p:cNvSpPr/>
          <p:nvPr/>
        </p:nvSpPr>
        <p:spPr>
          <a:xfrm>
            <a:off x="14818355" y="5249910"/>
            <a:ext cx="756000" cy="756000"/>
          </a:xfrm>
          <a:prstGeom prst="ellipse">
            <a:avLst/>
          </a:prstGeom>
          <a:solidFill>
            <a:srgbClr val="FFC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endParaRPr lang="sv-SE" sz="3200">
              <a:solidFill>
                <a:srgbClr val="FFFFFF"/>
              </a:solidFill>
              <a:latin typeface="Helvetica Neue Medium"/>
              <a:sym typeface="Helvetica Neue Medium"/>
            </a:endParaRPr>
          </a:p>
        </p:txBody>
      </p:sp>
      <p:sp>
        <p:nvSpPr>
          <p:cNvPr id="4" name="Ellips 3">
            <a:extLst>
              <a:ext uri="{FF2B5EF4-FFF2-40B4-BE49-F238E27FC236}">
                <a16:creationId xmlns:a16="http://schemas.microsoft.com/office/drawing/2014/main" id="{CB836A52-3274-8D8D-D258-BE6395FBA340}"/>
              </a:ext>
            </a:extLst>
          </p:cNvPr>
          <p:cNvSpPr/>
          <p:nvPr/>
        </p:nvSpPr>
        <p:spPr>
          <a:xfrm>
            <a:off x="3941835" y="7320556"/>
            <a:ext cx="722116" cy="722116"/>
          </a:xfrm>
          <a:prstGeom prst="ellipse">
            <a:avLst/>
          </a:prstGeom>
          <a:gradFill>
            <a:gsLst>
              <a:gs pos="0">
                <a:srgbClr val="FFFF00"/>
              </a:gs>
              <a:gs pos="100000">
                <a:srgbClr val="00B050"/>
              </a:gs>
            </a:gsLst>
            <a:lin ang="2700000" scaled="0"/>
          </a:gra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sv-SE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4" name="Straight Connector 3">
            <a:extLst>
              <a:ext uri="{FF2B5EF4-FFF2-40B4-BE49-F238E27FC236}">
                <a16:creationId xmlns:a16="http://schemas.microsoft.com/office/drawing/2014/main" id="{ED99B7DF-D40F-4ED9-7B29-BBAA4347F96D}"/>
              </a:ext>
            </a:extLst>
          </p:cNvPr>
          <p:cNvSpPr/>
          <p:nvPr/>
        </p:nvSpPr>
        <p:spPr>
          <a:xfrm flipH="1" flipV="1">
            <a:off x="-1" y="1840230"/>
            <a:ext cx="1235242" cy="0"/>
          </a:xfrm>
          <a:prstGeom prst="line">
            <a:avLst/>
          </a:prstGeom>
          <a:ln w="762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 algn="l" defTabSz="1828800">
              <a:defRPr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lang="en-US" dirty="0"/>
          </a:p>
        </p:txBody>
      </p:sp>
      <p:pic>
        <p:nvPicPr>
          <p:cNvPr id="3" name="Bild" descr="Bild">
            <a:extLst>
              <a:ext uri="{FF2B5EF4-FFF2-40B4-BE49-F238E27FC236}">
                <a16:creationId xmlns:a16="http://schemas.microsoft.com/office/drawing/2014/main" id="{6C38C03A-DE59-2360-BE10-C6A2630C06D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93767" y="12693280"/>
            <a:ext cx="3107532" cy="491067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Box 2">
            <a:extLst>
              <a:ext uri="{FF2B5EF4-FFF2-40B4-BE49-F238E27FC236}">
                <a16:creationId xmlns:a16="http://schemas.microsoft.com/office/drawing/2014/main" id="{ED5E6C45-4FA7-6321-B7E8-715E3EC975FD}"/>
              </a:ext>
            </a:extLst>
          </p:cNvPr>
          <p:cNvSpPr txBox="1"/>
          <p:nvPr/>
        </p:nvSpPr>
        <p:spPr>
          <a:xfrm>
            <a:off x="1246186" y="12708070"/>
            <a:ext cx="12525569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08000" tIns="0" rIns="0" bIns="0">
            <a:spAutoFit/>
          </a:bodyPr>
          <a:lstStyle>
            <a:lvl1pPr algn="l" defTabSz="1828800">
              <a:defRPr sz="2800" b="1" cap="all" spc="100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Portfolio Company updates </a:t>
            </a:r>
          </a:p>
        </p:txBody>
      </p:sp>
      <p:sp>
        <p:nvSpPr>
          <p:cNvPr id="8" name="TextBox 1">
            <a:extLst>
              <a:ext uri="{FF2B5EF4-FFF2-40B4-BE49-F238E27FC236}">
                <a16:creationId xmlns:a16="http://schemas.microsoft.com/office/drawing/2014/main" id="{29D5BE6B-8040-AA85-6934-CD8E568BEEC1}"/>
              </a:ext>
            </a:extLst>
          </p:cNvPr>
          <p:cNvSpPr txBox="1"/>
          <p:nvPr/>
        </p:nvSpPr>
        <p:spPr>
          <a:xfrm>
            <a:off x="1678113" y="1270843"/>
            <a:ext cx="21423186" cy="1015663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l" defTabSz="1828800">
              <a:defRPr sz="7400" b="1">
                <a:solidFill>
                  <a:srgbClr val="000000"/>
                </a:solidFill>
              </a:defRPr>
            </a:pPr>
            <a:r>
              <a:rPr lang="en-GB" sz="6600" cap="all" dirty="0"/>
              <a:t>Portfolio company update, 1(5)</a:t>
            </a:r>
          </a:p>
        </p:txBody>
      </p:sp>
      <p:sp>
        <p:nvSpPr>
          <p:cNvPr id="9" name="Straight Connector 3">
            <a:extLst>
              <a:ext uri="{FF2B5EF4-FFF2-40B4-BE49-F238E27FC236}">
                <a16:creationId xmlns:a16="http://schemas.microsoft.com/office/drawing/2014/main" id="{DC93DA7E-ED9B-EC76-6501-9D6800F495E7}"/>
              </a:ext>
            </a:extLst>
          </p:cNvPr>
          <p:cNvSpPr/>
          <p:nvPr/>
        </p:nvSpPr>
        <p:spPr>
          <a:xfrm flipH="1" flipV="1">
            <a:off x="1246186" y="12520580"/>
            <a:ext cx="21855113" cy="0"/>
          </a:xfrm>
          <a:prstGeom prst="line">
            <a:avLst/>
          </a:prstGeom>
          <a:ln w="381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 algn="l" defTabSz="1828800">
              <a:defRPr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0" name="Rektangel med rundade hörn 15">
            <a:extLst>
              <a:ext uri="{FF2B5EF4-FFF2-40B4-BE49-F238E27FC236}">
                <a16:creationId xmlns:a16="http://schemas.microsoft.com/office/drawing/2014/main" id="{43A02781-23C8-E36A-753E-5C3C17731563}"/>
              </a:ext>
            </a:extLst>
          </p:cNvPr>
          <p:cNvSpPr/>
          <p:nvPr/>
        </p:nvSpPr>
        <p:spPr>
          <a:xfrm>
            <a:off x="1678113" y="3905017"/>
            <a:ext cx="1865020" cy="571304"/>
          </a:xfrm>
          <a:prstGeom prst="roundRect">
            <a:avLst>
              <a:gd name="adj" fmla="val 18637"/>
            </a:avLst>
          </a:prstGeom>
          <a:solidFill>
            <a:schemeClr val="bg2">
              <a:lumMod val="1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2370696">
              <a:spcBef>
                <a:spcPct val="0"/>
              </a:spcBef>
              <a:spcAft>
                <a:spcPts val="1600"/>
              </a:spcAft>
            </a:pPr>
            <a:r>
              <a:rPr lang="en-GB" sz="25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Area</a:t>
            </a:r>
          </a:p>
        </p:txBody>
      </p:sp>
      <p:sp>
        <p:nvSpPr>
          <p:cNvPr id="11" name="Rektangel med rundade hörn 15">
            <a:extLst>
              <a:ext uri="{FF2B5EF4-FFF2-40B4-BE49-F238E27FC236}">
                <a16:creationId xmlns:a16="http://schemas.microsoft.com/office/drawing/2014/main" id="{F48882D0-55D1-E59B-EE6B-9286BC0A8D8D}"/>
              </a:ext>
            </a:extLst>
          </p:cNvPr>
          <p:cNvSpPr/>
          <p:nvPr/>
        </p:nvSpPr>
        <p:spPr>
          <a:xfrm>
            <a:off x="5036699" y="4616654"/>
            <a:ext cx="7028921" cy="202363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000" tIns="0" rIns="0" bIns="0" rtlCol="0" anchor="ctr"/>
          <a:lstStyle/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Continued high activity in the company – especially in the sales organization.</a:t>
            </a:r>
          </a:p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Management works on revised business plan based on current situation/prerequisites </a:t>
            </a:r>
          </a:p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First EDGE orders confirmed – and follow-up orders from same customers coming in.</a:t>
            </a:r>
          </a:p>
        </p:txBody>
      </p:sp>
      <p:pic>
        <p:nvPicPr>
          <p:cNvPr id="15" name="Picture 4">
            <a:extLst>
              <a:ext uri="{FF2B5EF4-FFF2-40B4-BE49-F238E27FC236}">
                <a16:creationId xmlns:a16="http://schemas.microsoft.com/office/drawing/2014/main" id="{3693285D-6A91-3A31-97D2-4963CA4F68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31928" y="2599771"/>
            <a:ext cx="1066798" cy="1066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Kvaser renews vision and values with a new brand identity - Kvaser -  Advanced CAN Solutions">
            <a:extLst>
              <a:ext uri="{FF2B5EF4-FFF2-40B4-BE49-F238E27FC236}">
                <a16:creationId xmlns:a16="http://schemas.microsoft.com/office/drawing/2014/main" id="{1E532805-97B6-8512-869D-7B72D4CE1D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3720" y="2367245"/>
            <a:ext cx="3809998" cy="1537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ktangel med rundade hörn 15">
            <a:extLst>
              <a:ext uri="{FF2B5EF4-FFF2-40B4-BE49-F238E27FC236}">
                <a16:creationId xmlns:a16="http://schemas.microsoft.com/office/drawing/2014/main" id="{4DCBCABE-B48B-691F-322B-B2EF80FE9571}"/>
              </a:ext>
            </a:extLst>
          </p:cNvPr>
          <p:cNvSpPr/>
          <p:nvPr/>
        </p:nvSpPr>
        <p:spPr>
          <a:xfrm>
            <a:off x="5062654" y="3905017"/>
            <a:ext cx="7002966" cy="571304"/>
          </a:xfrm>
          <a:prstGeom prst="roundRect">
            <a:avLst>
              <a:gd name="adj" fmla="val 18637"/>
            </a:avLst>
          </a:prstGeom>
          <a:solidFill>
            <a:schemeClr val="bg2">
              <a:lumMod val="1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2370696">
              <a:spcBef>
                <a:spcPct val="0"/>
              </a:spcBef>
              <a:spcAft>
                <a:spcPts val="1600"/>
              </a:spcAft>
            </a:pPr>
            <a:r>
              <a:rPr lang="en-GB" sz="25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Update</a:t>
            </a:r>
          </a:p>
        </p:txBody>
      </p:sp>
      <p:sp>
        <p:nvSpPr>
          <p:cNvPr id="18" name="Rektangel med rundade hörn 15">
            <a:extLst>
              <a:ext uri="{FF2B5EF4-FFF2-40B4-BE49-F238E27FC236}">
                <a16:creationId xmlns:a16="http://schemas.microsoft.com/office/drawing/2014/main" id="{86B79753-D737-48F1-424D-373E7598DD6B}"/>
              </a:ext>
            </a:extLst>
          </p:cNvPr>
          <p:cNvSpPr/>
          <p:nvPr/>
        </p:nvSpPr>
        <p:spPr>
          <a:xfrm>
            <a:off x="3657600" y="3905017"/>
            <a:ext cx="1290587" cy="571304"/>
          </a:xfrm>
          <a:prstGeom prst="roundRect">
            <a:avLst>
              <a:gd name="adj" fmla="val 18637"/>
            </a:avLst>
          </a:prstGeom>
          <a:solidFill>
            <a:schemeClr val="bg2">
              <a:lumMod val="1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2370696">
              <a:spcBef>
                <a:spcPct val="0"/>
              </a:spcBef>
              <a:spcAft>
                <a:spcPts val="1600"/>
              </a:spcAft>
            </a:pPr>
            <a:r>
              <a:rPr lang="en-GB" sz="25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Status</a:t>
            </a:r>
          </a:p>
        </p:txBody>
      </p:sp>
      <p:sp>
        <p:nvSpPr>
          <p:cNvPr id="19" name="Ellips 18">
            <a:extLst>
              <a:ext uri="{FF2B5EF4-FFF2-40B4-BE49-F238E27FC236}">
                <a16:creationId xmlns:a16="http://schemas.microsoft.com/office/drawing/2014/main" id="{9A35A273-4CD0-AE4D-85D7-A6ACC2EE2605}"/>
              </a:ext>
            </a:extLst>
          </p:cNvPr>
          <p:cNvSpPr/>
          <p:nvPr/>
        </p:nvSpPr>
        <p:spPr>
          <a:xfrm>
            <a:off x="3941835" y="5182902"/>
            <a:ext cx="722116" cy="722116"/>
          </a:xfrm>
          <a:prstGeom prst="ellipse">
            <a:avLst/>
          </a:prstGeom>
          <a:solidFill>
            <a:srgbClr val="00B05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sv-SE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ektangel med rundade hörn 15">
            <a:extLst>
              <a:ext uri="{FF2B5EF4-FFF2-40B4-BE49-F238E27FC236}">
                <a16:creationId xmlns:a16="http://schemas.microsoft.com/office/drawing/2014/main" id="{58E77B1D-AD84-C7D5-6F0B-0F3F0D3464AA}"/>
              </a:ext>
            </a:extLst>
          </p:cNvPr>
          <p:cNvSpPr/>
          <p:nvPr/>
        </p:nvSpPr>
        <p:spPr>
          <a:xfrm>
            <a:off x="1679575" y="4616252"/>
            <a:ext cx="1863557" cy="2023629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defTabSz="342802">
              <a:spcAft>
                <a:spcPts val="600"/>
              </a:spcAft>
              <a:tabLst>
                <a:tab pos="4030663" algn="l"/>
              </a:tabLst>
              <a:defRPr/>
            </a:pPr>
            <a:r>
              <a:rPr lang="en-US" sz="20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Operational update</a:t>
            </a:r>
          </a:p>
        </p:txBody>
      </p:sp>
      <p:sp>
        <p:nvSpPr>
          <p:cNvPr id="22" name="Rektangel med rundade hörn 15">
            <a:extLst>
              <a:ext uri="{FF2B5EF4-FFF2-40B4-BE49-F238E27FC236}">
                <a16:creationId xmlns:a16="http://schemas.microsoft.com/office/drawing/2014/main" id="{57D80F1D-1EE3-89C0-9DF5-0F38A7B65A68}"/>
              </a:ext>
            </a:extLst>
          </p:cNvPr>
          <p:cNvSpPr/>
          <p:nvPr/>
        </p:nvSpPr>
        <p:spPr>
          <a:xfrm>
            <a:off x="1679575" y="6861487"/>
            <a:ext cx="1863557" cy="1640255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defTabSz="342802">
              <a:spcAft>
                <a:spcPts val="600"/>
              </a:spcAft>
              <a:tabLst>
                <a:tab pos="4030663" algn="l"/>
              </a:tabLst>
              <a:defRPr/>
            </a:pPr>
            <a:r>
              <a:rPr lang="en-US" sz="20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Financial performance</a:t>
            </a:r>
          </a:p>
        </p:txBody>
      </p:sp>
      <p:sp>
        <p:nvSpPr>
          <p:cNvPr id="23" name="Rektangel med rundade hörn 15">
            <a:extLst>
              <a:ext uri="{FF2B5EF4-FFF2-40B4-BE49-F238E27FC236}">
                <a16:creationId xmlns:a16="http://schemas.microsoft.com/office/drawing/2014/main" id="{EB80668F-DD39-D500-4434-D2F000AAD00D}"/>
              </a:ext>
            </a:extLst>
          </p:cNvPr>
          <p:cNvSpPr/>
          <p:nvPr/>
        </p:nvSpPr>
        <p:spPr>
          <a:xfrm>
            <a:off x="1679575" y="8928901"/>
            <a:ext cx="1863557" cy="90087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defTabSz="342802">
              <a:spcAft>
                <a:spcPts val="600"/>
              </a:spcAft>
              <a:tabLst>
                <a:tab pos="4030663" algn="l"/>
              </a:tabLst>
              <a:defRPr/>
            </a:pPr>
            <a:r>
              <a:rPr lang="en-US" sz="20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Three-year value creation</a:t>
            </a:r>
          </a:p>
        </p:txBody>
      </p:sp>
      <p:cxnSp>
        <p:nvCxnSpPr>
          <p:cNvPr id="26" name="Rak koppling 25">
            <a:extLst>
              <a:ext uri="{FF2B5EF4-FFF2-40B4-BE49-F238E27FC236}">
                <a16:creationId xmlns:a16="http://schemas.microsoft.com/office/drawing/2014/main" id="{AD748EFA-9F2C-327F-77C0-8AB3CE8695F5}"/>
              </a:ext>
            </a:extLst>
          </p:cNvPr>
          <p:cNvCxnSpPr>
            <a:cxnSpLocks/>
          </p:cNvCxnSpPr>
          <p:nvPr/>
        </p:nvCxnSpPr>
        <p:spPr>
          <a:xfrm>
            <a:off x="1678113" y="6640286"/>
            <a:ext cx="10387507" cy="0"/>
          </a:xfrm>
          <a:prstGeom prst="line">
            <a:avLst/>
          </a:prstGeom>
          <a:noFill/>
          <a:ln w="25400" cap="flat">
            <a:solidFill>
              <a:srgbClr val="16E7CF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Rak koppling 27">
            <a:extLst>
              <a:ext uri="{FF2B5EF4-FFF2-40B4-BE49-F238E27FC236}">
                <a16:creationId xmlns:a16="http://schemas.microsoft.com/office/drawing/2014/main" id="{0E51ABB6-B7A2-6A26-6618-1B63F2875E1A}"/>
              </a:ext>
            </a:extLst>
          </p:cNvPr>
          <p:cNvCxnSpPr>
            <a:cxnSpLocks/>
          </p:cNvCxnSpPr>
          <p:nvPr/>
        </p:nvCxnSpPr>
        <p:spPr>
          <a:xfrm>
            <a:off x="1678113" y="8501743"/>
            <a:ext cx="10387507" cy="0"/>
          </a:xfrm>
          <a:prstGeom prst="line">
            <a:avLst/>
          </a:prstGeom>
          <a:noFill/>
          <a:ln w="25400" cap="flat">
            <a:solidFill>
              <a:srgbClr val="16E7CF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9" name="Rak koppling 28">
            <a:extLst>
              <a:ext uri="{FF2B5EF4-FFF2-40B4-BE49-F238E27FC236}">
                <a16:creationId xmlns:a16="http://schemas.microsoft.com/office/drawing/2014/main" id="{041D1097-8AD7-24CA-B3EA-761FB1D07F53}"/>
              </a:ext>
            </a:extLst>
          </p:cNvPr>
          <p:cNvCxnSpPr>
            <a:cxnSpLocks/>
          </p:cNvCxnSpPr>
          <p:nvPr/>
        </p:nvCxnSpPr>
        <p:spPr>
          <a:xfrm>
            <a:off x="1678112" y="10330543"/>
            <a:ext cx="10387507" cy="0"/>
          </a:xfrm>
          <a:prstGeom prst="line">
            <a:avLst/>
          </a:prstGeom>
          <a:noFill/>
          <a:ln w="25400" cap="flat">
            <a:solidFill>
              <a:srgbClr val="16E7CF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0" name="Rektangel med rundade hörn 15">
            <a:extLst>
              <a:ext uri="{FF2B5EF4-FFF2-40B4-BE49-F238E27FC236}">
                <a16:creationId xmlns:a16="http://schemas.microsoft.com/office/drawing/2014/main" id="{DA7C28C4-CF8D-052F-278F-34B837B541AE}"/>
              </a:ext>
            </a:extLst>
          </p:cNvPr>
          <p:cNvSpPr/>
          <p:nvPr/>
        </p:nvSpPr>
        <p:spPr>
          <a:xfrm>
            <a:off x="5036699" y="6628591"/>
            <a:ext cx="7028921" cy="18404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000" tIns="0" rIns="0" bIns="0" rtlCol="0" anchor="ctr"/>
          <a:lstStyle/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Stable Q1 development with revenue and EBITDA exceeding budget, yet somewhat short of last year (partly driven by FX)</a:t>
            </a:r>
          </a:p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Important with sales and order build-up ahead of H2’26 where a significant uplift in revenue is budgeted.</a:t>
            </a:r>
          </a:p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Stable cash position with good continuous underlying cashflow</a:t>
            </a:r>
          </a:p>
        </p:txBody>
      </p:sp>
      <p:sp>
        <p:nvSpPr>
          <p:cNvPr id="34" name="Rektangel med rundade hörn 15">
            <a:extLst>
              <a:ext uri="{FF2B5EF4-FFF2-40B4-BE49-F238E27FC236}">
                <a16:creationId xmlns:a16="http://schemas.microsoft.com/office/drawing/2014/main" id="{1B0881DF-4CD9-8AFE-F3EE-C196D91551FF}"/>
              </a:ext>
            </a:extLst>
          </p:cNvPr>
          <p:cNvSpPr/>
          <p:nvPr/>
        </p:nvSpPr>
        <p:spPr>
          <a:xfrm>
            <a:off x="5062654" y="8490051"/>
            <a:ext cx="7028921" cy="18404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000" tIns="0" rIns="0" bIns="0" rtlCol="0" anchor="ctr"/>
          <a:lstStyle/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Delay in three-year value creation plan. Timeline pushed approx. one year – yet, still relevant targets and potential. New business plan to be developed. Will be presented in Q2’26.</a:t>
            </a:r>
          </a:p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Focus on establishing a more proactive, solution-selling sales organization to get better visibility.</a:t>
            </a:r>
          </a:p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Strong prioritization on product development initiatives.</a:t>
            </a:r>
          </a:p>
        </p:txBody>
      </p:sp>
      <p:sp>
        <p:nvSpPr>
          <p:cNvPr id="35" name="Rektangel med rundade hörn 15">
            <a:extLst>
              <a:ext uri="{FF2B5EF4-FFF2-40B4-BE49-F238E27FC236}">
                <a16:creationId xmlns:a16="http://schemas.microsoft.com/office/drawing/2014/main" id="{62AE41B2-A10B-D858-3C34-A8C785C24BD0}"/>
              </a:ext>
            </a:extLst>
          </p:cNvPr>
          <p:cNvSpPr/>
          <p:nvPr/>
        </p:nvSpPr>
        <p:spPr>
          <a:xfrm>
            <a:off x="5049425" y="10436503"/>
            <a:ext cx="7042150" cy="18404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000" tIns="0" rIns="0" bIns="0" rtlCol="0" anchor="ctr"/>
          <a:lstStyle/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Maintain strategic focus and navigate OPEX and investment levels to ensure right and stable level of profitability</a:t>
            </a:r>
          </a:p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M&amp;A strategy still to be prepared and discussed in </a:t>
            </a:r>
            <a:r>
              <a:rPr lang="en-US" sz="1800" dirty="0" err="1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BoD</a:t>
            </a: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together with updated strategy discussion</a:t>
            </a:r>
          </a:p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Strong focus on follow-up on return on investments in sales team and the product developments</a:t>
            </a:r>
          </a:p>
        </p:txBody>
      </p:sp>
      <p:sp>
        <p:nvSpPr>
          <p:cNvPr id="36" name="Rektangel med rundade hörn 15">
            <a:extLst>
              <a:ext uri="{FF2B5EF4-FFF2-40B4-BE49-F238E27FC236}">
                <a16:creationId xmlns:a16="http://schemas.microsoft.com/office/drawing/2014/main" id="{8521D097-CF40-958C-6064-779218E47FE4}"/>
              </a:ext>
            </a:extLst>
          </p:cNvPr>
          <p:cNvSpPr/>
          <p:nvPr/>
        </p:nvSpPr>
        <p:spPr>
          <a:xfrm>
            <a:off x="12571575" y="3905017"/>
            <a:ext cx="1865020" cy="571304"/>
          </a:xfrm>
          <a:prstGeom prst="roundRect">
            <a:avLst>
              <a:gd name="adj" fmla="val 18637"/>
            </a:avLst>
          </a:prstGeom>
          <a:solidFill>
            <a:schemeClr val="bg2">
              <a:lumMod val="1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2370696">
              <a:spcBef>
                <a:spcPct val="0"/>
              </a:spcBef>
              <a:spcAft>
                <a:spcPts val="1600"/>
              </a:spcAft>
            </a:pPr>
            <a:r>
              <a:rPr lang="en-GB" sz="25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Area</a:t>
            </a:r>
          </a:p>
        </p:txBody>
      </p:sp>
      <p:sp>
        <p:nvSpPr>
          <p:cNvPr id="37" name="Rektangel med rundade hörn 15">
            <a:extLst>
              <a:ext uri="{FF2B5EF4-FFF2-40B4-BE49-F238E27FC236}">
                <a16:creationId xmlns:a16="http://schemas.microsoft.com/office/drawing/2014/main" id="{3DF8965E-A84A-394B-19BD-8797EFCC2B5C}"/>
              </a:ext>
            </a:extLst>
          </p:cNvPr>
          <p:cNvSpPr/>
          <p:nvPr/>
        </p:nvSpPr>
        <p:spPr>
          <a:xfrm>
            <a:off x="15956116" y="4616654"/>
            <a:ext cx="7028921" cy="202363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000" tIns="0" rIns="0" bIns="0" rtlCol="0" anchor="ctr"/>
          <a:lstStyle/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Continued strong sales focus, healthy pipeline in relation to budget but tough market situation for certain parts of the offering – i.e. more “generic” engineering consultancy</a:t>
            </a:r>
          </a:p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Significant risk in IKEA account due to major reorganization at IKEA, incl. cost reductions. Uncertain how this will impact Rapid.</a:t>
            </a:r>
          </a:p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Integration of Machenschaft according to plan, provides good leads and cooperation works well.</a:t>
            </a:r>
          </a:p>
        </p:txBody>
      </p:sp>
      <p:sp>
        <p:nvSpPr>
          <p:cNvPr id="38" name="Rektangel med rundade hörn 15">
            <a:extLst>
              <a:ext uri="{FF2B5EF4-FFF2-40B4-BE49-F238E27FC236}">
                <a16:creationId xmlns:a16="http://schemas.microsoft.com/office/drawing/2014/main" id="{F5C33A1C-993F-0517-5FAB-29B55F3FB5B7}"/>
              </a:ext>
            </a:extLst>
          </p:cNvPr>
          <p:cNvSpPr/>
          <p:nvPr/>
        </p:nvSpPr>
        <p:spPr>
          <a:xfrm>
            <a:off x="15956116" y="3905017"/>
            <a:ext cx="7002966" cy="571304"/>
          </a:xfrm>
          <a:prstGeom prst="roundRect">
            <a:avLst>
              <a:gd name="adj" fmla="val 18637"/>
            </a:avLst>
          </a:prstGeom>
          <a:solidFill>
            <a:schemeClr val="bg2">
              <a:lumMod val="1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2370696">
              <a:spcBef>
                <a:spcPct val="0"/>
              </a:spcBef>
              <a:spcAft>
                <a:spcPts val="1600"/>
              </a:spcAft>
            </a:pPr>
            <a:r>
              <a:rPr lang="en-GB" sz="25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Update</a:t>
            </a:r>
          </a:p>
        </p:txBody>
      </p:sp>
      <p:sp>
        <p:nvSpPr>
          <p:cNvPr id="39" name="Rektangel med rundade hörn 15">
            <a:extLst>
              <a:ext uri="{FF2B5EF4-FFF2-40B4-BE49-F238E27FC236}">
                <a16:creationId xmlns:a16="http://schemas.microsoft.com/office/drawing/2014/main" id="{08CAEA52-4F40-3E9C-3DD8-9CDB8FD26B97}"/>
              </a:ext>
            </a:extLst>
          </p:cNvPr>
          <p:cNvSpPr/>
          <p:nvPr/>
        </p:nvSpPr>
        <p:spPr>
          <a:xfrm>
            <a:off x="14551062" y="3905017"/>
            <a:ext cx="1290587" cy="571304"/>
          </a:xfrm>
          <a:prstGeom prst="roundRect">
            <a:avLst>
              <a:gd name="adj" fmla="val 18637"/>
            </a:avLst>
          </a:prstGeom>
          <a:solidFill>
            <a:schemeClr val="bg2">
              <a:lumMod val="1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2370696">
              <a:spcBef>
                <a:spcPct val="0"/>
              </a:spcBef>
              <a:spcAft>
                <a:spcPts val="1600"/>
              </a:spcAft>
            </a:pPr>
            <a:r>
              <a:rPr lang="en-GB" sz="25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Status</a:t>
            </a:r>
          </a:p>
        </p:txBody>
      </p:sp>
      <p:sp>
        <p:nvSpPr>
          <p:cNvPr id="41" name="Rektangel med rundade hörn 15">
            <a:extLst>
              <a:ext uri="{FF2B5EF4-FFF2-40B4-BE49-F238E27FC236}">
                <a16:creationId xmlns:a16="http://schemas.microsoft.com/office/drawing/2014/main" id="{43A69129-C5D8-0A92-9987-1567C5E737C3}"/>
              </a:ext>
            </a:extLst>
          </p:cNvPr>
          <p:cNvSpPr/>
          <p:nvPr/>
        </p:nvSpPr>
        <p:spPr>
          <a:xfrm>
            <a:off x="12573037" y="4616252"/>
            <a:ext cx="1863557" cy="2023629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defTabSz="342802">
              <a:spcAft>
                <a:spcPts val="600"/>
              </a:spcAft>
              <a:tabLst>
                <a:tab pos="4030663" algn="l"/>
              </a:tabLst>
              <a:defRPr/>
            </a:pPr>
            <a:r>
              <a:rPr lang="en-US" sz="20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Operational update</a:t>
            </a:r>
          </a:p>
        </p:txBody>
      </p:sp>
      <p:sp>
        <p:nvSpPr>
          <p:cNvPr id="42" name="Rektangel med rundade hörn 15">
            <a:extLst>
              <a:ext uri="{FF2B5EF4-FFF2-40B4-BE49-F238E27FC236}">
                <a16:creationId xmlns:a16="http://schemas.microsoft.com/office/drawing/2014/main" id="{C12EC223-9E82-9F9F-4488-05C87CDAE37C}"/>
              </a:ext>
            </a:extLst>
          </p:cNvPr>
          <p:cNvSpPr/>
          <p:nvPr/>
        </p:nvSpPr>
        <p:spPr>
          <a:xfrm>
            <a:off x="12573037" y="6861487"/>
            <a:ext cx="1863557" cy="1640255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defTabSz="342802">
              <a:spcAft>
                <a:spcPts val="600"/>
              </a:spcAft>
              <a:tabLst>
                <a:tab pos="4030663" algn="l"/>
              </a:tabLst>
              <a:defRPr/>
            </a:pPr>
            <a:r>
              <a:rPr lang="en-US" sz="20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Financial performance</a:t>
            </a:r>
          </a:p>
        </p:txBody>
      </p:sp>
      <p:sp>
        <p:nvSpPr>
          <p:cNvPr id="43" name="Rektangel med rundade hörn 15">
            <a:extLst>
              <a:ext uri="{FF2B5EF4-FFF2-40B4-BE49-F238E27FC236}">
                <a16:creationId xmlns:a16="http://schemas.microsoft.com/office/drawing/2014/main" id="{262A8D99-FF19-6A67-92A1-E4DD17588A15}"/>
              </a:ext>
            </a:extLst>
          </p:cNvPr>
          <p:cNvSpPr/>
          <p:nvPr/>
        </p:nvSpPr>
        <p:spPr>
          <a:xfrm>
            <a:off x="12573037" y="8928901"/>
            <a:ext cx="1863557" cy="90087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defTabSz="342802">
              <a:spcAft>
                <a:spcPts val="600"/>
              </a:spcAft>
              <a:tabLst>
                <a:tab pos="4030663" algn="l"/>
              </a:tabLst>
              <a:defRPr/>
            </a:pPr>
            <a:r>
              <a:rPr lang="en-US" sz="20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Three-year value creation</a:t>
            </a:r>
          </a:p>
        </p:txBody>
      </p:sp>
      <p:cxnSp>
        <p:nvCxnSpPr>
          <p:cNvPr id="45" name="Rak koppling 44">
            <a:extLst>
              <a:ext uri="{FF2B5EF4-FFF2-40B4-BE49-F238E27FC236}">
                <a16:creationId xmlns:a16="http://schemas.microsoft.com/office/drawing/2014/main" id="{5CE99FD3-A8E7-3D88-5BBE-202B263C8F71}"/>
              </a:ext>
            </a:extLst>
          </p:cNvPr>
          <p:cNvCxnSpPr>
            <a:cxnSpLocks/>
          </p:cNvCxnSpPr>
          <p:nvPr/>
        </p:nvCxnSpPr>
        <p:spPr>
          <a:xfrm>
            <a:off x="12571575" y="6640286"/>
            <a:ext cx="10387507" cy="0"/>
          </a:xfrm>
          <a:prstGeom prst="line">
            <a:avLst/>
          </a:prstGeom>
          <a:noFill/>
          <a:ln w="25400" cap="flat">
            <a:solidFill>
              <a:srgbClr val="16E7CF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6" name="Rak koppling 45">
            <a:extLst>
              <a:ext uri="{FF2B5EF4-FFF2-40B4-BE49-F238E27FC236}">
                <a16:creationId xmlns:a16="http://schemas.microsoft.com/office/drawing/2014/main" id="{31BBE326-E95E-E254-B02C-23552B052AD8}"/>
              </a:ext>
            </a:extLst>
          </p:cNvPr>
          <p:cNvCxnSpPr>
            <a:cxnSpLocks/>
          </p:cNvCxnSpPr>
          <p:nvPr/>
        </p:nvCxnSpPr>
        <p:spPr>
          <a:xfrm>
            <a:off x="12571575" y="8501743"/>
            <a:ext cx="10387507" cy="0"/>
          </a:xfrm>
          <a:prstGeom prst="line">
            <a:avLst/>
          </a:prstGeom>
          <a:noFill/>
          <a:ln w="25400" cap="flat">
            <a:solidFill>
              <a:srgbClr val="16E7CF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7" name="Rak koppling 46">
            <a:extLst>
              <a:ext uri="{FF2B5EF4-FFF2-40B4-BE49-F238E27FC236}">
                <a16:creationId xmlns:a16="http://schemas.microsoft.com/office/drawing/2014/main" id="{05164CF3-5112-2CCA-E2E0-B46E7BBF30B9}"/>
              </a:ext>
            </a:extLst>
          </p:cNvPr>
          <p:cNvCxnSpPr>
            <a:cxnSpLocks/>
          </p:cNvCxnSpPr>
          <p:nvPr/>
        </p:nvCxnSpPr>
        <p:spPr>
          <a:xfrm>
            <a:off x="12571574" y="10330543"/>
            <a:ext cx="10387507" cy="0"/>
          </a:xfrm>
          <a:prstGeom prst="line">
            <a:avLst/>
          </a:prstGeom>
          <a:noFill/>
          <a:ln w="25400" cap="flat">
            <a:solidFill>
              <a:srgbClr val="16E7CF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8" name="Rektangel med rundade hörn 15">
            <a:extLst>
              <a:ext uri="{FF2B5EF4-FFF2-40B4-BE49-F238E27FC236}">
                <a16:creationId xmlns:a16="http://schemas.microsoft.com/office/drawing/2014/main" id="{DB5B8001-7B8A-DED2-8678-6AFB877DF904}"/>
              </a:ext>
            </a:extLst>
          </p:cNvPr>
          <p:cNvSpPr/>
          <p:nvPr/>
        </p:nvSpPr>
        <p:spPr>
          <a:xfrm>
            <a:off x="15956116" y="6628591"/>
            <a:ext cx="7028921" cy="18404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000" tIns="0" rIns="0" bIns="0" rtlCol="0" anchor="ctr"/>
          <a:lstStyle/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Weak Q1 results – very much due to IKEA’s reduction of engineers, directly impacting EBITDA (people on the bench)</a:t>
            </a:r>
          </a:p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Budget for FY26 updated and cost measures implemented.</a:t>
            </a:r>
          </a:p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Will not meet bank covenants for Q1, discussions initiated with the bank on how to handle situation</a:t>
            </a:r>
          </a:p>
        </p:txBody>
      </p:sp>
      <p:sp>
        <p:nvSpPr>
          <p:cNvPr id="49" name="Ellips 48">
            <a:extLst>
              <a:ext uri="{FF2B5EF4-FFF2-40B4-BE49-F238E27FC236}">
                <a16:creationId xmlns:a16="http://schemas.microsoft.com/office/drawing/2014/main" id="{E80CBC8C-93CF-5110-5EDE-40B1FEC7E3AD}"/>
              </a:ext>
            </a:extLst>
          </p:cNvPr>
          <p:cNvSpPr/>
          <p:nvPr/>
        </p:nvSpPr>
        <p:spPr>
          <a:xfrm>
            <a:off x="14835297" y="7320556"/>
            <a:ext cx="722116" cy="722116"/>
          </a:xfrm>
          <a:prstGeom prst="ellipse">
            <a:avLst/>
          </a:prstGeom>
          <a:solidFill>
            <a:srgbClr val="FFFF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sv-SE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2" name="Rektangel med rundade hörn 15">
            <a:extLst>
              <a:ext uri="{FF2B5EF4-FFF2-40B4-BE49-F238E27FC236}">
                <a16:creationId xmlns:a16="http://schemas.microsoft.com/office/drawing/2014/main" id="{FA82F569-54ED-0D56-AB31-F782A43510F2}"/>
              </a:ext>
            </a:extLst>
          </p:cNvPr>
          <p:cNvSpPr/>
          <p:nvPr/>
        </p:nvSpPr>
        <p:spPr>
          <a:xfrm>
            <a:off x="15956116" y="8490051"/>
            <a:ext cx="7028921" cy="18404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000" tIns="0" rIns="0" bIns="0" rtlCol="0" anchor="ctr"/>
          <a:lstStyle/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Delay in business plan preparation due to “all-hands-on-deck” situation with IKEA/stabilizing operations</a:t>
            </a:r>
          </a:p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Very important strategic work on positioning in the business plan – rapidly changing competitive dynamics and demand. Rapid is well positioned – but very important to craft offering and executable plan</a:t>
            </a:r>
          </a:p>
        </p:txBody>
      </p:sp>
      <p:sp>
        <p:nvSpPr>
          <p:cNvPr id="53" name="Rektangel med rundade hörn 15">
            <a:extLst>
              <a:ext uri="{FF2B5EF4-FFF2-40B4-BE49-F238E27FC236}">
                <a16:creationId xmlns:a16="http://schemas.microsoft.com/office/drawing/2014/main" id="{B29989D3-F9F1-A5CC-5CB2-4C2109667DF3}"/>
              </a:ext>
            </a:extLst>
          </p:cNvPr>
          <p:cNvSpPr/>
          <p:nvPr/>
        </p:nvSpPr>
        <p:spPr>
          <a:xfrm>
            <a:off x="15942887" y="10507393"/>
            <a:ext cx="7042150" cy="18404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000" tIns="0" rIns="0" bIns="0" rtlCol="0" anchor="ctr"/>
          <a:lstStyle/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Continue to support the CEO in the “turnaround”/early back-to-growth phase</a:t>
            </a:r>
          </a:p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Engage in prep and ensure finalization of new business plan</a:t>
            </a:r>
          </a:p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Evaluate potential additional add-on acquisitions</a:t>
            </a:r>
          </a:p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Map out long-term strategic alternatives for divestment (and how to build the company towards such position)</a:t>
            </a:r>
          </a:p>
        </p:txBody>
      </p:sp>
      <p:cxnSp>
        <p:nvCxnSpPr>
          <p:cNvPr id="55" name="Rak koppling 54">
            <a:extLst>
              <a:ext uri="{FF2B5EF4-FFF2-40B4-BE49-F238E27FC236}">
                <a16:creationId xmlns:a16="http://schemas.microsoft.com/office/drawing/2014/main" id="{F96BEF37-B2ED-A9F3-55DB-8EB657A13E2D}"/>
              </a:ext>
            </a:extLst>
          </p:cNvPr>
          <p:cNvCxnSpPr>
            <a:cxnSpLocks/>
          </p:cNvCxnSpPr>
          <p:nvPr/>
        </p:nvCxnSpPr>
        <p:spPr>
          <a:xfrm>
            <a:off x="12300857" y="2514600"/>
            <a:ext cx="0" cy="9840279"/>
          </a:xfrm>
          <a:prstGeom prst="line">
            <a:avLst/>
          </a:prstGeom>
          <a:noFill/>
          <a:ln w="762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Ellips 6">
            <a:extLst>
              <a:ext uri="{FF2B5EF4-FFF2-40B4-BE49-F238E27FC236}">
                <a16:creationId xmlns:a16="http://schemas.microsoft.com/office/drawing/2014/main" id="{BE1029CD-38AF-A0AE-3865-8F2D662ED823}"/>
              </a:ext>
            </a:extLst>
          </p:cNvPr>
          <p:cNvSpPr/>
          <p:nvPr/>
        </p:nvSpPr>
        <p:spPr>
          <a:xfrm>
            <a:off x="14835297" y="7306947"/>
            <a:ext cx="756000" cy="756000"/>
          </a:xfrm>
          <a:prstGeom prst="ellipse">
            <a:avLst/>
          </a:prstGeom>
          <a:solidFill>
            <a:srgbClr val="FF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endParaRPr lang="sv-SE" sz="3200">
              <a:solidFill>
                <a:srgbClr val="FFFFFF"/>
              </a:solidFill>
              <a:latin typeface="Helvetica Neue Medium"/>
              <a:sym typeface="Helvetica Neue Medium"/>
            </a:endParaRPr>
          </a:p>
        </p:txBody>
      </p:sp>
      <p:sp>
        <p:nvSpPr>
          <p:cNvPr id="12" name="Ellips 11">
            <a:extLst>
              <a:ext uri="{FF2B5EF4-FFF2-40B4-BE49-F238E27FC236}">
                <a16:creationId xmlns:a16="http://schemas.microsoft.com/office/drawing/2014/main" id="{56E650BF-5500-5207-4C43-146300DC8164}"/>
              </a:ext>
            </a:extLst>
          </p:cNvPr>
          <p:cNvSpPr/>
          <p:nvPr/>
        </p:nvSpPr>
        <p:spPr>
          <a:xfrm>
            <a:off x="14801413" y="8992278"/>
            <a:ext cx="756000" cy="756000"/>
          </a:xfrm>
          <a:prstGeom prst="ellipse">
            <a:avLst/>
          </a:prstGeom>
          <a:solidFill>
            <a:srgbClr val="FFC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endParaRPr lang="sv-SE" sz="3200">
              <a:solidFill>
                <a:srgbClr val="FFFFFF"/>
              </a:solidFill>
              <a:latin typeface="Helvetica Neue Medium"/>
              <a:sym typeface="Helvetica Neue Medium"/>
            </a:endParaRPr>
          </a:p>
        </p:txBody>
      </p:sp>
      <p:sp>
        <p:nvSpPr>
          <p:cNvPr id="13" name="Rektangel med rundade hörn 15">
            <a:extLst>
              <a:ext uri="{FF2B5EF4-FFF2-40B4-BE49-F238E27FC236}">
                <a16:creationId xmlns:a16="http://schemas.microsoft.com/office/drawing/2014/main" id="{9B7BD0F0-33E5-04DF-D9B0-BA8ED2B3BF99}"/>
              </a:ext>
            </a:extLst>
          </p:cNvPr>
          <p:cNvSpPr/>
          <p:nvPr/>
        </p:nvSpPr>
        <p:spPr>
          <a:xfrm>
            <a:off x="2512473" y="10757700"/>
            <a:ext cx="1865020" cy="90087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defTabSz="342802">
              <a:spcAft>
                <a:spcPts val="600"/>
              </a:spcAft>
              <a:tabLst>
                <a:tab pos="4030663" algn="l"/>
              </a:tabLst>
              <a:defRPr/>
            </a:pPr>
            <a:r>
              <a:rPr lang="en-US" sz="2000" b="1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7D focus and contribution</a:t>
            </a:r>
          </a:p>
        </p:txBody>
      </p:sp>
      <p:sp>
        <p:nvSpPr>
          <p:cNvPr id="14" name="Rektangel med rundade hörn 15">
            <a:extLst>
              <a:ext uri="{FF2B5EF4-FFF2-40B4-BE49-F238E27FC236}">
                <a16:creationId xmlns:a16="http://schemas.microsoft.com/office/drawing/2014/main" id="{26D9C6BF-E701-6364-F292-CD34186289AE}"/>
              </a:ext>
            </a:extLst>
          </p:cNvPr>
          <p:cNvSpPr/>
          <p:nvPr/>
        </p:nvSpPr>
        <p:spPr>
          <a:xfrm>
            <a:off x="13504085" y="10757700"/>
            <a:ext cx="1865020" cy="90087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defTabSz="342802">
              <a:spcAft>
                <a:spcPts val="600"/>
              </a:spcAft>
              <a:tabLst>
                <a:tab pos="4030663" algn="l"/>
              </a:tabLst>
              <a:defRPr/>
            </a:pPr>
            <a:r>
              <a:rPr lang="en-US" sz="2000" b="1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7D focus and contribution</a:t>
            </a:r>
          </a:p>
        </p:txBody>
      </p:sp>
    </p:spTree>
    <p:extLst>
      <p:ext uri="{BB962C8B-B14F-4D97-AF65-F5344CB8AC3E}">
        <p14:creationId xmlns:p14="http://schemas.microsoft.com/office/powerpoint/2010/main" val="2581041999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9201D-EBD9-E3B8-0D9A-F505AD9BA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traight Connector 3">
            <a:extLst>
              <a:ext uri="{FF2B5EF4-FFF2-40B4-BE49-F238E27FC236}">
                <a16:creationId xmlns:a16="http://schemas.microsoft.com/office/drawing/2014/main" id="{C88BCD62-BD97-1ED8-2DF9-8031BA93E7F0}"/>
              </a:ext>
            </a:extLst>
          </p:cNvPr>
          <p:cNvSpPr/>
          <p:nvPr/>
        </p:nvSpPr>
        <p:spPr>
          <a:xfrm flipH="1" flipV="1">
            <a:off x="-1" y="1840230"/>
            <a:ext cx="1235242" cy="0"/>
          </a:xfrm>
          <a:prstGeom prst="line">
            <a:avLst/>
          </a:prstGeom>
          <a:ln w="762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 algn="l" defTabSz="1828800">
              <a:defRPr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lang="en-US" dirty="0"/>
          </a:p>
        </p:txBody>
      </p:sp>
      <p:pic>
        <p:nvPicPr>
          <p:cNvPr id="3" name="Bild" descr="Bild">
            <a:extLst>
              <a:ext uri="{FF2B5EF4-FFF2-40B4-BE49-F238E27FC236}">
                <a16:creationId xmlns:a16="http://schemas.microsoft.com/office/drawing/2014/main" id="{80ACE1CE-ED48-9972-3BAC-2555D0D786A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93767" y="12693280"/>
            <a:ext cx="3107532" cy="491067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Box 2">
            <a:extLst>
              <a:ext uri="{FF2B5EF4-FFF2-40B4-BE49-F238E27FC236}">
                <a16:creationId xmlns:a16="http://schemas.microsoft.com/office/drawing/2014/main" id="{C3785B13-47FF-D75C-997A-1F2866BC8327}"/>
              </a:ext>
            </a:extLst>
          </p:cNvPr>
          <p:cNvSpPr txBox="1"/>
          <p:nvPr/>
        </p:nvSpPr>
        <p:spPr>
          <a:xfrm>
            <a:off x="1246186" y="12708070"/>
            <a:ext cx="12525569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108000" tIns="0" rIns="0" bIns="0">
            <a:spAutoFit/>
          </a:bodyPr>
          <a:lstStyle>
            <a:lvl1pPr algn="l" defTabSz="1828800">
              <a:defRPr sz="2800" b="1" cap="all" spc="100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Portfolio Company updates </a:t>
            </a:r>
          </a:p>
        </p:txBody>
      </p:sp>
      <p:sp>
        <p:nvSpPr>
          <p:cNvPr id="8" name="TextBox 1">
            <a:extLst>
              <a:ext uri="{FF2B5EF4-FFF2-40B4-BE49-F238E27FC236}">
                <a16:creationId xmlns:a16="http://schemas.microsoft.com/office/drawing/2014/main" id="{4AFF9F71-860D-E057-B3EC-E8B6860C9908}"/>
              </a:ext>
            </a:extLst>
          </p:cNvPr>
          <p:cNvSpPr txBox="1"/>
          <p:nvPr/>
        </p:nvSpPr>
        <p:spPr>
          <a:xfrm>
            <a:off x="1678113" y="1270843"/>
            <a:ext cx="21423186" cy="1015663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l" defTabSz="1828800">
              <a:defRPr sz="7400" b="1">
                <a:solidFill>
                  <a:srgbClr val="000000"/>
                </a:solidFill>
              </a:defRPr>
            </a:pPr>
            <a:r>
              <a:rPr lang="en-GB" sz="6600" cap="all" dirty="0"/>
              <a:t>Portfolio company update, 2(5)</a:t>
            </a:r>
          </a:p>
        </p:txBody>
      </p:sp>
      <p:sp>
        <p:nvSpPr>
          <p:cNvPr id="9" name="Straight Connector 3">
            <a:extLst>
              <a:ext uri="{FF2B5EF4-FFF2-40B4-BE49-F238E27FC236}">
                <a16:creationId xmlns:a16="http://schemas.microsoft.com/office/drawing/2014/main" id="{6FB69192-8016-A81B-6C2B-36489A07B840}"/>
              </a:ext>
            </a:extLst>
          </p:cNvPr>
          <p:cNvSpPr/>
          <p:nvPr/>
        </p:nvSpPr>
        <p:spPr>
          <a:xfrm flipH="1" flipV="1">
            <a:off x="1246186" y="12520580"/>
            <a:ext cx="21855113" cy="0"/>
          </a:xfrm>
          <a:prstGeom prst="line">
            <a:avLst/>
          </a:prstGeom>
          <a:ln w="381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 algn="l" defTabSz="1828800">
              <a:defRPr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" name="Rektangel med rundade hörn 15">
            <a:extLst>
              <a:ext uri="{FF2B5EF4-FFF2-40B4-BE49-F238E27FC236}">
                <a16:creationId xmlns:a16="http://schemas.microsoft.com/office/drawing/2014/main" id="{E1EAD0DE-DC4B-1EE8-BCE2-7C6458823833}"/>
              </a:ext>
            </a:extLst>
          </p:cNvPr>
          <p:cNvSpPr/>
          <p:nvPr/>
        </p:nvSpPr>
        <p:spPr>
          <a:xfrm>
            <a:off x="1678113" y="3905017"/>
            <a:ext cx="1865020" cy="571304"/>
          </a:xfrm>
          <a:prstGeom prst="roundRect">
            <a:avLst>
              <a:gd name="adj" fmla="val 18637"/>
            </a:avLst>
          </a:prstGeom>
          <a:solidFill>
            <a:schemeClr val="bg2">
              <a:lumMod val="1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2370696">
              <a:spcBef>
                <a:spcPct val="0"/>
              </a:spcBef>
              <a:spcAft>
                <a:spcPts val="1600"/>
              </a:spcAft>
            </a:pPr>
            <a:r>
              <a:rPr lang="en-GB" sz="25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Area</a:t>
            </a:r>
          </a:p>
        </p:txBody>
      </p:sp>
      <p:sp>
        <p:nvSpPr>
          <p:cNvPr id="10" name="Rektangel med rundade hörn 15">
            <a:extLst>
              <a:ext uri="{FF2B5EF4-FFF2-40B4-BE49-F238E27FC236}">
                <a16:creationId xmlns:a16="http://schemas.microsoft.com/office/drawing/2014/main" id="{4B7ACB18-D373-456F-BAC4-B0EDF7E05C8E}"/>
              </a:ext>
            </a:extLst>
          </p:cNvPr>
          <p:cNvSpPr/>
          <p:nvPr/>
        </p:nvSpPr>
        <p:spPr>
          <a:xfrm>
            <a:off x="5062654" y="3905017"/>
            <a:ext cx="7002966" cy="571304"/>
          </a:xfrm>
          <a:prstGeom prst="roundRect">
            <a:avLst>
              <a:gd name="adj" fmla="val 18637"/>
            </a:avLst>
          </a:prstGeom>
          <a:solidFill>
            <a:schemeClr val="bg2">
              <a:lumMod val="1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2370696">
              <a:spcBef>
                <a:spcPct val="0"/>
              </a:spcBef>
              <a:spcAft>
                <a:spcPts val="1600"/>
              </a:spcAft>
            </a:pPr>
            <a:r>
              <a:rPr lang="en-GB" sz="25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Update</a:t>
            </a:r>
          </a:p>
        </p:txBody>
      </p:sp>
      <p:sp>
        <p:nvSpPr>
          <p:cNvPr id="11" name="Rektangel med rundade hörn 15">
            <a:extLst>
              <a:ext uri="{FF2B5EF4-FFF2-40B4-BE49-F238E27FC236}">
                <a16:creationId xmlns:a16="http://schemas.microsoft.com/office/drawing/2014/main" id="{2B98FF48-8734-46DF-52A2-C018027A77C7}"/>
              </a:ext>
            </a:extLst>
          </p:cNvPr>
          <p:cNvSpPr/>
          <p:nvPr/>
        </p:nvSpPr>
        <p:spPr>
          <a:xfrm>
            <a:off x="3657600" y="3905017"/>
            <a:ext cx="1290587" cy="571304"/>
          </a:xfrm>
          <a:prstGeom prst="roundRect">
            <a:avLst>
              <a:gd name="adj" fmla="val 18637"/>
            </a:avLst>
          </a:prstGeom>
          <a:solidFill>
            <a:schemeClr val="bg2">
              <a:lumMod val="1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2370696">
              <a:spcBef>
                <a:spcPct val="0"/>
              </a:spcBef>
              <a:spcAft>
                <a:spcPts val="1600"/>
              </a:spcAft>
            </a:pPr>
            <a:r>
              <a:rPr lang="en-GB" sz="25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Status</a:t>
            </a:r>
          </a:p>
        </p:txBody>
      </p:sp>
      <p:sp>
        <p:nvSpPr>
          <p:cNvPr id="26" name="Rektangel med rundade hörn 15">
            <a:extLst>
              <a:ext uri="{FF2B5EF4-FFF2-40B4-BE49-F238E27FC236}">
                <a16:creationId xmlns:a16="http://schemas.microsoft.com/office/drawing/2014/main" id="{8A36CDB8-54B8-477E-2093-9C80A952360F}"/>
              </a:ext>
            </a:extLst>
          </p:cNvPr>
          <p:cNvSpPr/>
          <p:nvPr/>
        </p:nvSpPr>
        <p:spPr>
          <a:xfrm>
            <a:off x="12571575" y="3905017"/>
            <a:ext cx="1865020" cy="571304"/>
          </a:xfrm>
          <a:prstGeom prst="roundRect">
            <a:avLst>
              <a:gd name="adj" fmla="val 18637"/>
            </a:avLst>
          </a:prstGeom>
          <a:solidFill>
            <a:schemeClr val="bg2">
              <a:lumMod val="1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2370696">
              <a:spcBef>
                <a:spcPct val="0"/>
              </a:spcBef>
              <a:spcAft>
                <a:spcPts val="1600"/>
              </a:spcAft>
            </a:pPr>
            <a:r>
              <a:rPr lang="en-GB" sz="25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Area</a:t>
            </a:r>
          </a:p>
        </p:txBody>
      </p:sp>
      <p:sp>
        <p:nvSpPr>
          <p:cNvPr id="28" name="Rektangel med rundade hörn 15">
            <a:extLst>
              <a:ext uri="{FF2B5EF4-FFF2-40B4-BE49-F238E27FC236}">
                <a16:creationId xmlns:a16="http://schemas.microsoft.com/office/drawing/2014/main" id="{285B56F5-AD09-BF11-F56D-EEA0B9DB696A}"/>
              </a:ext>
            </a:extLst>
          </p:cNvPr>
          <p:cNvSpPr/>
          <p:nvPr/>
        </p:nvSpPr>
        <p:spPr>
          <a:xfrm>
            <a:off x="15956116" y="3905017"/>
            <a:ext cx="7002966" cy="571304"/>
          </a:xfrm>
          <a:prstGeom prst="roundRect">
            <a:avLst>
              <a:gd name="adj" fmla="val 18637"/>
            </a:avLst>
          </a:prstGeom>
          <a:solidFill>
            <a:schemeClr val="bg2">
              <a:lumMod val="1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2370696">
              <a:spcBef>
                <a:spcPct val="0"/>
              </a:spcBef>
              <a:spcAft>
                <a:spcPts val="1600"/>
              </a:spcAft>
            </a:pPr>
            <a:r>
              <a:rPr lang="en-GB" sz="25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Update</a:t>
            </a:r>
          </a:p>
        </p:txBody>
      </p:sp>
      <p:sp>
        <p:nvSpPr>
          <p:cNvPr id="29" name="Rektangel med rundade hörn 15">
            <a:extLst>
              <a:ext uri="{FF2B5EF4-FFF2-40B4-BE49-F238E27FC236}">
                <a16:creationId xmlns:a16="http://schemas.microsoft.com/office/drawing/2014/main" id="{06031BF6-F9CB-AC02-0C92-3C0AE11FE1D3}"/>
              </a:ext>
            </a:extLst>
          </p:cNvPr>
          <p:cNvSpPr/>
          <p:nvPr/>
        </p:nvSpPr>
        <p:spPr>
          <a:xfrm>
            <a:off x="14551062" y="3905017"/>
            <a:ext cx="1290587" cy="571304"/>
          </a:xfrm>
          <a:prstGeom prst="roundRect">
            <a:avLst>
              <a:gd name="adj" fmla="val 18637"/>
            </a:avLst>
          </a:prstGeom>
          <a:solidFill>
            <a:schemeClr val="bg2">
              <a:lumMod val="1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2370696">
              <a:spcBef>
                <a:spcPct val="0"/>
              </a:spcBef>
              <a:spcAft>
                <a:spcPts val="1600"/>
              </a:spcAft>
            </a:pPr>
            <a:r>
              <a:rPr lang="en-GB" sz="25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Status</a:t>
            </a:r>
          </a:p>
        </p:txBody>
      </p:sp>
      <p:cxnSp>
        <p:nvCxnSpPr>
          <p:cNvPr id="44" name="Rak koppling 43">
            <a:extLst>
              <a:ext uri="{FF2B5EF4-FFF2-40B4-BE49-F238E27FC236}">
                <a16:creationId xmlns:a16="http://schemas.microsoft.com/office/drawing/2014/main" id="{AB049805-7F65-44E9-5F0A-804EC244CD9D}"/>
              </a:ext>
            </a:extLst>
          </p:cNvPr>
          <p:cNvCxnSpPr>
            <a:cxnSpLocks/>
          </p:cNvCxnSpPr>
          <p:nvPr/>
        </p:nvCxnSpPr>
        <p:spPr>
          <a:xfrm>
            <a:off x="12300857" y="2514600"/>
            <a:ext cx="0" cy="9840279"/>
          </a:xfrm>
          <a:prstGeom prst="line">
            <a:avLst/>
          </a:prstGeom>
          <a:noFill/>
          <a:ln w="762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5" name="Rektangel med rundade hörn 8">
            <a:extLst>
              <a:ext uri="{FF2B5EF4-FFF2-40B4-BE49-F238E27FC236}">
                <a16:creationId xmlns:a16="http://schemas.microsoft.com/office/drawing/2014/main" id="{C1438DEC-5230-EBD9-B65D-758F13A85E6E}"/>
              </a:ext>
            </a:extLst>
          </p:cNvPr>
          <p:cNvSpPr/>
          <p:nvPr/>
        </p:nvSpPr>
        <p:spPr>
          <a:xfrm>
            <a:off x="4783150" y="2466121"/>
            <a:ext cx="3022578" cy="1263314"/>
          </a:xfrm>
          <a:prstGeom prst="roundRect">
            <a:avLst>
              <a:gd name="adj" fmla="val 11889"/>
            </a:avLst>
          </a:prstGeom>
          <a:solidFill>
            <a:srgbClr val="000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000" rIns="96000" rtlCol="0" anchor="ctr"/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chemeClr val="l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>
              <a:spcAft>
                <a:spcPts val="2933"/>
              </a:spcAft>
              <a:buClr>
                <a:srgbClr val="749A83"/>
              </a:buClr>
            </a:pPr>
            <a:r>
              <a:rPr lang="en-US" b="1" i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Cloud &amp; Compute</a:t>
            </a:r>
          </a:p>
        </p:txBody>
      </p:sp>
      <p:pic>
        <p:nvPicPr>
          <p:cNvPr id="46" name="Picture 4">
            <a:extLst>
              <a:ext uri="{FF2B5EF4-FFF2-40B4-BE49-F238E27FC236}">
                <a16:creationId xmlns:a16="http://schemas.microsoft.com/office/drawing/2014/main" id="{9173D4A4-6253-F34E-0102-989F39D228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7" t="12246" r="84259" b="79817"/>
          <a:stretch/>
        </p:blipFill>
        <p:spPr bwMode="auto">
          <a:xfrm>
            <a:off x="16348004" y="2563156"/>
            <a:ext cx="3255772" cy="1069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AC2B0892-3C18-8B34-7461-B86472F0567B}"/>
              </a:ext>
            </a:extLst>
          </p:cNvPr>
          <p:cNvSpPr/>
          <p:nvPr/>
        </p:nvSpPr>
        <p:spPr>
          <a:xfrm flipH="1" flipV="1">
            <a:off x="1246186" y="12520580"/>
            <a:ext cx="21855113" cy="0"/>
          </a:xfrm>
          <a:prstGeom prst="line">
            <a:avLst/>
          </a:prstGeom>
          <a:ln w="381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 algn="l" defTabSz="1828800">
              <a:defRPr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6" name="Rektangel med rundade hörn 15">
            <a:extLst>
              <a:ext uri="{FF2B5EF4-FFF2-40B4-BE49-F238E27FC236}">
                <a16:creationId xmlns:a16="http://schemas.microsoft.com/office/drawing/2014/main" id="{55687DBC-1CF3-04BD-B8E2-C229EF8159CF}"/>
              </a:ext>
            </a:extLst>
          </p:cNvPr>
          <p:cNvSpPr/>
          <p:nvPr/>
        </p:nvSpPr>
        <p:spPr>
          <a:xfrm>
            <a:off x="1679575" y="4616252"/>
            <a:ext cx="1863557" cy="2023629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defTabSz="342802">
              <a:spcAft>
                <a:spcPts val="600"/>
              </a:spcAft>
              <a:tabLst>
                <a:tab pos="4030663" algn="l"/>
              </a:tabLst>
              <a:defRPr/>
            </a:pPr>
            <a:r>
              <a:rPr lang="en-US" sz="20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Operational update</a:t>
            </a:r>
          </a:p>
        </p:txBody>
      </p:sp>
      <p:sp>
        <p:nvSpPr>
          <p:cNvPr id="7" name="Rektangel med rundade hörn 15">
            <a:extLst>
              <a:ext uri="{FF2B5EF4-FFF2-40B4-BE49-F238E27FC236}">
                <a16:creationId xmlns:a16="http://schemas.microsoft.com/office/drawing/2014/main" id="{AF0EBD8D-1D95-A962-70A9-1B3AD19F0264}"/>
              </a:ext>
            </a:extLst>
          </p:cNvPr>
          <p:cNvSpPr/>
          <p:nvPr/>
        </p:nvSpPr>
        <p:spPr>
          <a:xfrm>
            <a:off x="1679575" y="6861487"/>
            <a:ext cx="1863557" cy="1640255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defTabSz="342802">
              <a:spcAft>
                <a:spcPts val="600"/>
              </a:spcAft>
              <a:tabLst>
                <a:tab pos="4030663" algn="l"/>
              </a:tabLst>
              <a:defRPr/>
            </a:pPr>
            <a:r>
              <a:rPr lang="en-US" sz="20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Financial performance</a:t>
            </a:r>
          </a:p>
        </p:txBody>
      </p:sp>
      <p:sp>
        <p:nvSpPr>
          <p:cNvPr id="20" name="Rektangel med rundade hörn 15">
            <a:extLst>
              <a:ext uri="{FF2B5EF4-FFF2-40B4-BE49-F238E27FC236}">
                <a16:creationId xmlns:a16="http://schemas.microsoft.com/office/drawing/2014/main" id="{3AFA2012-F07C-C6C2-F56D-478DE11F32EF}"/>
              </a:ext>
            </a:extLst>
          </p:cNvPr>
          <p:cNvSpPr/>
          <p:nvPr/>
        </p:nvSpPr>
        <p:spPr>
          <a:xfrm>
            <a:off x="1679575" y="8928901"/>
            <a:ext cx="1863557" cy="90087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defTabSz="342802">
              <a:spcAft>
                <a:spcPts val="600"/>
              </a:spcAft>
              <a:tabLst>
                <a:tab pos="4030663" algn="l"/>
              </a:tabLst>
              <a:defRPr/>
            </a:pPr>
            <a:r>
              <a:rPr lang="en-US" sz="20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Three-year value creation</a:t>
            </a:r>
          </a:p>
        </p:txBody>
      </p:sp>
      <p:cxnSp>
        <p:nvCxnSpPr>
          <p:cNvPr id="25" name="Rak koppling 24">
            <a:extLst>
              <a:ext uri="{FF2B5EF4-FFF2-40B4-BE49-F238E27FC236}">
                <a16:creationId xmlns:a16="http://schemas.microsoft.com/office/drawing/2014/main" id="{42AF6EAF-9B4A-7B6D-6277-3435314168B7}"/>
              </a:ext>
            </a:extLst>
          </p:cNvPr>
          <p:cNvCxnSpPr>
            <a:cxnSpLocks/>
          </p:cNvCxnSpPr>
          <p:nvPr/>
        </p:nvCxnSpPr>
        <p:spPr>
          <a:xfrm>
            <a:off x="1678113" y="6640286"/>
            <a:ext cx="10387507" cy="0"/>
          </a:xfrm>
          <a:prstGeom prst="line">
            <a:avLst/>
          </a:prstGeom>
          <a:noFill/>
          <a:ln w="25400" cap="flat">
            <a:solidFill>
              <a:srgbClr val="16E7CF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7" name="Rak koppling 26">
            <a:extLst>
              <a:ext uri="{FF2B5EF4-FFF2-40B4-BE49-F238E27FC236}">
                <a16:creationId xmlns:a16="http://schemas.microsoft.com/office/drawing/2014/main" id="{AB3DB447-6C46-9B36-A32A-30EC2712F0AE}"/>
              </a:ext>
            </a:extLst>
          </p:cNvPr>
          <p:cNvCxnSpPr>
            <a:cxnSpLocks/>
          </p:cNvCxnSpPr>
          <p:nvPr/>
        </p:nvCxnSpPr>
        <p:spPr>
          <a:xfrm>
            <a:off x="1678113" y="8501743"/>
            <a:ext cx="10387507" cy="0"/>
          </a:xfrm>
          <a:prstGeom prst="line">
            <a:avLst/>
          </a:prstGeom>
          <a:noFill/>
          <a:ln w="25400" cap="flat">
            <a:solidFill>
              <a:srgbClr val="16E7CF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Rak koppling 37">
            <a:extLst>
              <a:ext uri="{FF2B5EF4-FFF2-40B4-BE49-F238E27FC236}">
                <a16:creationId xmlns:a16="http://schemas.microsoft.com/office/drawing/2014/main" id="{76DE2994-4F4F-0554-6F53-E7426B690ABF}"/>
              </a:ext>
            </a:extLst>
          </p:cNvPr>
          <p:cNvCxnSpPr>
            <a:cxnSpLocks/>
          </p:cNvCxnSpPr>
          <p:nvPr/>
        </p:nvCxnSpPr>
        <p:spPr>
          <a:xfrm>
            <a:off x="1678112" y="10330543"/>
            <a:ext cx="10387507" cy="0"/>
          </a:xfrm>
          <a:prstGeom prst="line">
            <a:avLst/>
          </a:prstGeom>
          <a:noFill/>
          <a:ln w="25400" cap="flat">
            <a:solidFill>
              <a:srgbClr val="16E7CF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2" name="Ellips 41">
            <a:extLst>
              <a:ext uri="{FF2B5EF4-FFF2-40B4-BE49-F238E27FC236}">
                <a16:creationId xmlns:a16="http://schemas.microsoft.com/office/drawing/2014/main" id="{DAB5AEBF-D695-FDFD-A5DE-9F67998D3879}"/>
              </a:ext>
            </a:extLst>
          </p:cNvPr>
          <p:cNvSpPr/>
          <p:nvPr/>
        </p:nvSpPr>
        <p:spPr>
          <a:xfrm>
            <a:off x="3941835" y="7013264"/>
            <a:ext cx="756000" cy="756000"/>
          </a:xfrm>
          <a:prstGeom prst="ellipse">
            <a:avLst/>
          </a:prstGeom>
          <a:gradFill>
            <a:gsLst>
              <a:gs pos="0">
                <a:srgbClr val="FFFF00"/>
              </a:gs>
              <a:gs pos="100000">
                <a:srgbClr val="00B050"/>
              </a:gs>
            </a:gsLst>
            <a:lin ang="2700000" scaled="0"/>
          </a:gra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endParaRPr lang="sv-SE" sz="3200">
              <a:solidFill>
                <a:srgbClr val="FFFFFF"/>
              </a:solidFill>
              <a:latin typeface="Helvetica Neue Medium"/>
              <a:sym typeface="Helvetica Neue Medium"/>
            </a:endParaRPr>
          </a:p>
        </p:txBody>
      </p:sp>
      <p:sp>
        <p:nvSpPr>
          <p:cNvPr id="43" name="Ellips 42">
            <a:extLst>
              <a:ext uri="{FF2B5EF4-FFF2-40B4-BE49-F238E27FC236}">
                <a16:creationId xmlns:a16="http://schemas.microsoft.com/office/drawing/2014/main" id="{32D03A99-C898-84F1-D952-41573FDCAD74}"/>
              </a:ext>
            </a:extLst>
          </p:cNvPr>
          <p:cNvSpPr/>
          <p:nvPr/>
        </p:nvSpPr>
        <p:spPr>
          <a:xfrm>
            <a:off x="3941835" y="8899627"/>
            <a:ext cx="756000" cy="756000"/>
          </a:xfrm>
          <a:prstGeom prst="ellipse">
            <a:avLst/>
          </a:prstGeom>
          <a:gradFill>
            <a:gsLst>
              <a:gs pos="0">
                <a:srgbClr val="FFFF00"/>
              </a:gs>
              <a:gs pos="100000">
                <a:srgbClr val="00B050"/>
              </a:gs>
            </a:gsLst>
            <a:lin ang="2700000" scaled="0"/>
          </a:gra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endParaRPr lang="sv-SE" sz="3200">
              <a:solidFill>
                <a:srgbClr val="FFFFFF"/>
              </a:solidFill>
              <a:latin typeface="Helvetica Neue Medium"/>
              <a:sym typeface="Helvetica Neue Medium"/>
            </a:endParaRPr>
          </a:p>
        </p:txBody>
      </p:sp>
      <p:sp>
        <p:nvSpPr>
          <p:cNvPr id="48" name="Ellips 47">
            <a:extLst>
              <a:ext uri="{FF2B5EF4-FFF2-40B4-BE49-F238E27FC236}">
                <a16:creationId xmlns:a16="http://schemas.microsoft.com/office/drawing/2014/main" id="{11189774-471D-275C-C025-589A86FB66A2}"/>
              </a:ext>
            </a:extLst>
          </p:cNvPr>
          <p:cNvSpPr/>
          <p:nvPr/>
        </p:nvSpPr>
        <p:spPr>
          <a:xfrm>
            <a:off x="14835297" y="5125594"/>
            <a:ext cx="756000" cy="756000"/>
          </a:xfrm>
          <a:prstGeom prst="ellipse">
            <a:avLst/>
          </a:prstGeom>
          <a:solidFill>
            <a:srgbClr val="FFC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endParaRPr lang="sv-SE" sz="3200">
              <a:solidFill>
                <a:srgbClr val="FFFFFF"/>
              </a:solidFill>
              <a:latin typeface="Helvetica Neue Medium"/>
              <a:sym typeface="Helvetica Neue Medium"/>
            </a:endParaRPr>
          </a:p>
        </p:txBody>
      </p:sp>
      <p:sp>
        <p:nvSpPr>
          <p:cNvPr id="49" name="Rektangel med rundade hörn 15">
            <a:extLst>
              <a:ext uri="{FF2B5EF4-FFF2-40B4-BE49-F238E27FC236}">
                <a16:creationId xmlns:a16="http://schemas.microsoft.com/office/drawing/2014/main" id="{020C620E-CE63-7206-6C74-6C277BDE6C52}"/>
              </a:ext>
            </a:extLst>
          </p:cNvPr>
          <p:cNvSpPr/>
          <p:nvPr/>
        </p:nvSpPr>
        <p:spPr>
          <a:xfrm>
            <a:off x="12573037" y="4616252"/>
            <a:ext cx="1863557" cy="2023629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defTabSz="342802">
              <a:spcAft>
                <a:spcPts val="600"/>
              </a:spcAft>
              <a:tabLst>
                <a:tab pos="4030663" algn="l"/>
              </a:tabLst>
              <a:defRPr/>
            </a:pPr>
            <a:r>
              <a:rPr lang="en-US" sz="20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Operational update</a:t>
            </a:r>
          </a:p>
        </p:txBody>
      </p:sp>
      <p:sp>
        <p:nvSpPr>
          <p:cNvPr id="58" name="Rektangel med rundade hörn 15">
            <a:extLst>
              <a:ext uri="{FF2B5EF4-FFF2-40B4-BE49-F238E27FC236}">
                <a16:creationId xmlns:a16="http://schemas.microsoft.com/office/drawing/2014/main" id="{4A92740F-DE5C-8D60-DAC6-AF3509A40D42}"/>
              </a:ext>
            </a:extLst>
          </p:cNvPr>
          <p:cNvSpPr/>
          <p:nvPr/>
        </p:nvSpPr>
        <p:spPr>
          <a:xfrm>
            <a:off x="12573037" y="6861487"/>
            <a:ext cx="1863557" cy="1640255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defTabSz="342802">
              <a:spcAft>
                <a:spcPts val="600"/>
              </a:spcAft>
              <a:tabLst>
                <a:tab pos="4030663" algn="l"/>
              </a:tabLst>
              <a:defRPr/>
            </a:pPr>
            <a:r>
              <a:rPr lang="en-US" sz="20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Financial performance</a:t>
            </a:r>
          </a:p>
        </p:txBody>
      </p:sp>
      <p:sp>
        <p:nvSpPr>
          <p:cNvPr id="59" name="Rektangel med rundade hörn 15">
            <a:extLst>
              <a:ext uri="{FF2B5EF4-FFF2-40B4-BE49-F238E27FC236}">
                <a16:creationId xmlns:a16="http://schemas.microsoft.com/office/drawing/2014/main" id="{8E163637-9B91-8F0B-4812-EF1E7109DF24}"/>
              </a:ext>
            </a:extLst>
          </p:cNvPr>
          <p:cNvSpPr/>
          <p:nvPr/>
        </p:nvSpPr>
        <p:spPr>
          <a:xfrm>
            <a:off x="12573037" y="8928901"/>
            <a:ext cx="1863557" cy="90087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defTabSz="342802">
              <a:spcAft>
                <a:spcPts val="600"/>
              </a:spcAft>
              <a:tabLst>
                <a:tab pos="4030663" algn="l"/>
              </a:tabLst>
              <a:defRPr/>
            </a:pPr>
            <a:r>
              <a:rPr lang="en-US" sz="20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Three-year value creation</a:t>
            </a:r>
          </a:p>
        </p:txBody>
      </p:sp>
      <p:cxnSp>
        <p:nvCxnSpPr>
          <p:cNvPr id="61" name="Rak koppling 60">
            <a:extLst>
              <a:ext uri="{FF2B5EF4-FFF2-40B4-BE49-F238E27FC236}">
                <a16:creationId xmlns:a16="http://schemas.microsoft.com/office/drawing/2014/main" id="{9ECD5EDA-C8D5-4DAB-040E-C19A7E5E0686}"/>
              </a:ext>
            </a:extLst>
          </p:cNvPr>
          <p:cNvCxnSpPr>
            <a:cxnSpLocks/>
          </p:cNvCxnSpPr>
          <p:nvPr/>
        </p:nvCxnSpPr>
        <p:spPr>
          <a:xfrm>
            <a:off x="12571575" y="6640286"/>
            <a:ext cx="10387507" cy="0"/>
          </a:xfrm>
          <a:prstGeom prst="line">
            <a:avLst/>
          </a:prstGeom>
          <a:noFill/>
          <a:ln w="25400" cap="flat">
            <a:solidFill>
              <a:srgbClr val="16E7CF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2" name="Rak koppling 61">
            <a:extLst>
              <a:ext uri="{FF2B5EF4-FFF2-40B4-BE49-F238E27FC236}">
                <a16:creationId xmlns:a16="http://schemas.microsoft.com/office/drawing/2014/main" id="{24C77193-79B8-B313-6CAD-41E2185CD73A}"/>
              </a:ext>
            </a:extLst>
          </p:cNvPr>
          <p:cNvCxnSpPr>
            <a:cxnSpLocks/>
          </p:cNvCxnSpPr>
          <p:nvPr/>
        </p:nvCxnSpPr>
        <p:spPr>
          <a:xfrm>
            <a:off x="12571575" y="8501743"/>
            <a:ext cx="10387507" cy="0"/>
          </a:xfrm>
          <a:prstGeom prst="line">
            <a:avLst/>
          </a:prstGeom>
          <a:noFill/>
          <a:ln w="25400" cap="flat">
            <a:solidFill>
              <a:srgbClr val="16E7CF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3" name="Rak koppling 62">
            <a:extLst>
              <a:ext uri="{FF2B5EF4-FFF2-40B4-BE49-F238E27FC236}">
                <a16:creationId xmlns:a16="http://schemas.microsoft.com/office/drawing/2014/main" id="{D339C086-8DD3-1A5D-C4E7-D10552D692C7}"/>
              </a:ext>
            </a:extLst>
          </p:cNvPr>
          <p:cNvCxnSpPr>
            <a:cxnSpLocks/>
          </p:cNvCxnSpPr>
          <p:nvPr/>
        </p:nvCxnSpPr>
        <p:spPr>
          <a:xfrm>
            <a:off x="12571574" y="10330543"/>
            <a:ext cx="10387507" cy="0"/>
          </a:xfrm>
          <a:prstGeom prst="line">
            <a:avLst/>
          </a:prstGeom>
          <a:noFill/>
          <a:ln w="25400" cap="flat">
            <a:solidFill>
              <a:srgbClr val="16E7CF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2" name="Ellips 191">
            <a:extLst>
              <a:ext uri="{FF2B5EF4-FFF2-40B4-BE49-F238E27FC236}">
                <a16:creationId xmlns:a16="http://schemas.microsoft.com/office/drawing/2014/main" id="{66340377-D2C1-45A2-5D11-9C653168F282}"/>
              </a:ext>
            </a:extLst>
          </p:cNvPr>
          <p:cNvSpPr/>
          <p:nvPr/>
        </p:nvSpPr>
        <p:spPr>
          <a:xfrm>
            <a:off x="14835297" y="7263248"/>
            <a:ext cx="756000" cy="756000"/>
          </a:xfrm>
          <a:prstGeom prst="ellipse">
            <a:avLst/>
          </a:prstGeom>
          <a:gradFill>
            <a:gsLst>
              <a:gs pos="0">
                <a:srgbClr val="FF0000"/>
              </a:gs>
              <a:gs pos="100000">
                <a:schemeClr val="accent4"/>
              </a:gs>
            </a:gsLst>
            <a:lin ang="5400000" scaled="1"/>
          </a:gra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endParaRPr lang="sv-SE" sz="3200">
              <a:solidFill>
                <a:srgbClr val="FFFFFF"/>
              </a:solidFill>
              <a:latin typeface="Helvetica Neue Medium"/>
              <a:sym typeface="Helvetica Neue Medium"/>
            </a:endParaRPr>
          </a:p>
        </p:txBody>
      </p:sp>
      <p:sp>
        <p:nvSpPr>
          <p:cNvPr id="193" name="Ellips 192">
            <a:extLst>
              <a:ext uri="{FF2B5EF4-FFF2-40B4-BE49-F238E27FC236}">
                <a16:creationId xmlns:a16="http://schemas.microsoft.com/office/drawing/2014/main" id="{207FBF6E-A171-DCE3-DF7F-6C13E52BBD7B}"/>
              </a:ext>
            </a:extLst>
          </p:cNvPr>
          <p:cNvSpPr/>
          <p:nvPr/>
        </p:nvSpPr>
        <p:spPr>
          <a:xfrm>
            <a:off x="14835297" y="9014498"/>
            <a:ext cx="722116" cy="722116"/>
          </a:xfrm>
          <a:prstGeom prst="ellipse">
            <a:avLst/>
          </a:prstGeom>
          <a:solidFill>
            <a:srgbClr val="FFC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endParaRPr lang="sv-SE" sz="3200">
              <a:solidFill>
                <a:srgbClr val="FFFFFF"/>
              </a:solidFill>
              <a:latin typeface="Helvetica Neue Medium"/>
              <a:sym typeface="Helvetica Neue Medium"/>
            </a:endParaRPr>
          </a:p>
        </p:txBody>
      </p:sp>
      <p:sp>
        <p:nvSpPr>
          <p:cNvPr id="195" name="Rektangel med rundade hörn 15">
            <a:extLst>
              <a:ext uri="{FF2B5EF4-FFF2-40B4-BE49-F238E27FC236}">
                <a16:creationId xmlns:a16="http://schemas.microsoft.com/office/drawing/2014/main" id="{44D8BDA9-1FA7-A971-A096-1527245F2DA6}"/>
              </a:ext>
            </a:extLst>
          </p:cNvPr>
          <p:cNvSpPr/>
          <p:nvPr/>
        </p:nvSpPr>
        <p:spPr>
          <a:xfrm>
            <a:off x="4669999" y="4616654"/>
            <a:ext cx="7523091" cy="202363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000" tIns="0" rIns="0" bIns="0" rtlCol="0" anchor="ctr"/>
          <a:lstStyle/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Onboarding of new FTE, strong first impression</a:t>
            </a:r>
          </a:p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Building out partner- and new customer dialogues, progressing according to plan </a:t>
            </a:r>
          </a:p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Price increase are now hitting market (up to 80% on items), will likely affect customer behavior </a:t>
            </a:r>
          </a:p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Working with team to build out “sophistication” of Bus. Dev.</a:t>
            </a:r>
          </a:p>
        </p:txBody>
      </p:sp>
      <p:sp>
        <p:nvSpPr>
          <p:cNvPr id="196" name="Rektangel med rundade hörn 15">
            <a:extLst>
              <a:ext uri="{FF2B5EF4-FFF2-40B4-BE49-F238E27FC236}">
                <a16:creationId xmlns:a16="http://schemas.microsoft.com/office/drawing/2014/main" id="{C376E5D9-17B6-544F-CC07-0DA9771D2A70}"/>
              </a:ext>
            </a:extLst>
          </p:cNvPr>
          <p:cNvSpPr/>
          <p:nvPr/>
        </p:nvSpPr>
        <p:spPr>
          <a:xfrm>
            <a:off x="4697836" y="6628591"/>
            <a:ext cx="7494774" cy="18404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000" tIns="0" rIns="0" bIns="0" rtlCol="0" anchor="ctr"/>
          <a:lstStyle/>
          <a:p>
            <a:pPr marL="174625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Strong start for 2026, Q1 expected to be significantly higher than last year, +50 MSEK in booking as of mid April</a:t>
            </a:r>
          </a:p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Full year 2025 (not finalized) closed at ~70 MSEK revenues and 7,1 MSEK in adj EBITDA (10,1%) </a:t>
            </a:r>
          </a:p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Re-financing of 7D debt pushed to January 2027 </a:t>
            </a:r>
          </a:p>
        </p:txBody>
      </p:sp>
      <p:sp>
        <p:nvSpPr>
          <p:cNvPr id="197" name="Rektangel med rundade hörn 15">
            <a:extLst>
              <a:ext uri="{FF2B5EF4-FFF2-40B4-BE49-F238E27FC236}">
                <a16:creationId xmlns:a16="http://schemas.microsoft.com/office/drawing/2014/main" id="{C70C47EA-5801-BEFE-E920-9E0C31588C8B}"/>
              </a:ext>
            </a:extLst>
          </p:cNvPr>
          <p:cNvSpPr/>
          <p:nvPr/>
        </p:nvSpPr>
        <p:spPr>
          <a:xfrm>
            <a:off x="4709503" y="8490051"/>
            <a:ext cx="7522759" cy="18404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000" tIns="0" rIns="0" bIns="0" rtlCol="0" anchor="ctr"/>
          <a:lstStyle/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Behind schedule, in need of accelerating value creating activities and potentially increasing risk / reward efforts </a:t>
            </a:r>
          </a:p>
          <a:p>
            <a:pPr marL="174625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M&amp;A activities will need to be prioritized in order to not loose too much time on value creation case, trade offs might be necessary… </a:t>
            </a:r>
          </a:p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Diversifying customer base and partnership base ongoing, making </a:t>
            </a:r>
            <a:r>
              <a:rPr lang="en-US" sz="1800" dirty="0" err="1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progess</a:t>
            </a:r>
            <a:endParaRPr lang="en-US" sz="1800" dirty="0">
              <a:solidFill>
                <a:srgbClr val="293447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98" name="Rektangel med rundade hörn 15">
            <a:extLst>
              <a:ext uri="{FF2B5EF4-FFF2-40B4-BE49-F238E27FC236}">
                <a16:creationId xmlns:a16="http://schemas.microsoft.com/office/drawing/2014/main" id="{898C529A-A86A-F511-F14A-49BEEDA9745D}"/>
              </a:ext>
            </a:extLst>
          </p:cNvPr>
          <p:cNvSpPr/>
          <p:nvPr/>
        </p:nvSpPr>
        <p:spPr>
          <a:xfrm>
            <a:off x="4682036" y="10284105"/>
            <a:ext cx="7537249" cy="2048985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000" tIns="0" rIns="0" bIns="0" rtlCol="0" anchor="ctr"/>
          <a:lstStyle/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Initiated dialogues with potential M&amp;A targets.</a:t>
            </a:r>
          </a:p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Supporting and building out refinement of decision making and business development activities</a:t>
            </a:r>
          </a:p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Build M&amp;A pipeline to be ready when timing is right</a:t>
            </a:r>
          </a:p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Set up new reporting and governance structure (revamp) </a:t>
            </a:r>
          </a:p>
        </p:txBody>
      </p:sp>
      <p:sp>
        <p:nvSpPr>
          <p:cNvPr id="199" name="Rektangel med rundade hörn 15">
            <a:extLst>
              <a:ext uri="{FF2B5EF4-FFF2-40B4-BE49-F238E27FC236}">
                <a16:creationId xmlns:a16="http://schemas.microsoft.com/office/drawing/2014/main" id="{D193094E-D2A1-6EEA-CDC8-3396B84C4147}"/>
              </a:ext>
            </a:extLst>
          </p:cNvPr>
          <p:cNvSpPr/>
          <p:nvPr/>
        </p:nvSpPr>
        <p:spPr>
          <a:xfrm>
            <a:off x="16089322" y="4616654"/>
            <a:ext cx="6869759" cy="202363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000" tIns="0" rIns="0" bIns="0" rtlCol="0" anchor="ctr"/>
          <a:lstStyle/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Difficulties with overall coordination and management especially in Stockholm area, plan to find new leaders in place </a:t>
            </a:r>
          </a:p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Significant project management issues, several project has been completed with massive budget overdrafts (neg. margins) </a:t>
            </a:r>
          </a:p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Hard to find FTEs to deliver on orderbook which is record high</a:t>
            </a:r>
          </a:p>
        </p:txBody>
      </p:sp>
      <p:sp>
        <p:nvSpPr>
          <p:cNvPr id="200" name="Rektangel med rundade hörn 15">
            <a:extLst>
              <a:ext uri="{FF2B5EF4-FFF2-40B4-BE49-F238E27FC236}">
                <a16:creationId xmlns:a16="http://schemas.microsoft.com/office/drawing/2014/main" id="{E61EB928-4C4D-D3AE-B90D-5136F40E15BF}"/>
              </a:ext>
            </a:extLst>
          </p:cNvPr>
          <p:cNvSpPr/>
          <p:nvPr/>
        </p:nvSpPr>
        <p:spPr>
          <a:xfrm>
            <a:off x="16089323" y="6628591"/>
            <a:ext cx="6895714" cy="18404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000" tIns="0" rIns="0" bIns="0" rtlCol="0" anchor="ctr"/>
          <a:lstStyle/>
          <a:p>
            <a:pPr marL="174625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Strong end of 2025 with high revenue and profitability, disappointing performance in Q1 even though full order book.</a:t>
            </a:r>
          </a:p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Utilization of subcontractors and poorly managed projects affects profitability significantly </a:t>
            </a:r>
          </a:p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Forecast of fiscal year (June) is ~68M in revenue and 4,8M EBITDA (reported), well below budget of 70M / +9M EBITDA</a:t>
            </a:r>
          </a:p>
        </p:txBody>
      </p:sp>
      <p:sp>
        <p:nvSpPr>
          <p:cNvPr id="201" name="Rektangel med rundade hörn 15">
            <a:extLst>
              <a:ext uri="{FF2B5EF4-FFF2-40B4-BE49-F238E27FC236}">
                <a16:creationId xmlns:a16="http://schemas.microsoft.com/office/drawing/2014/main" id="{498901E4-8CD0-56D0-4AF1-F858E8B0B7B7}"/>
              </a:ext>
            </a:extLst>
          </p:cNvPr>
          <p:cNvSpPr/>
          <p:nvPr/>
        </p:nvSpPr>
        <p:spPr>
          <a:xfrm>
            <a:off x="16089323" y="8490051"/>
            <a:ext cx="6895714" cy="18404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000" tIns="0" rIns="0" bIns="0" rtlCol="0" anchor="ctr"/>
          <a:lstStyle/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Strong M&amp;A pipe-line and ongoing dialogues with attractive targets </a:t>
            </a:r>
          </a:p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Profitability is likely to be lowered upcoming 12-18 months as investments into management is necessary </a:t>
            </a:r>
          </a:p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M&amp;A capital need is to be identified (potentially ~2-5 MSEK)</a:t>
            </a:r>
          </a:p>
        </p:txBody>
      </p:sp>
      <p:sp>
        <p:nvSpPr>
          <p:cNvPr id="202" name="Rektangel med rundade hörn 15">
            <a:extLst>
              <a:ext uri="{FF2B5EF4-FFF2-40B4-BE49-F238E27FC236}">
                <a16:creationId xmlns:a16="http://schemas.microsoft.com/office/drawing/2014/main" id="{D356E83A-6EB4-6063-C571-0D17A0A32370}"/>
              </a:ext>
            </a:extLst>
          </p:cNvPr>
          <p:cNvSpPr/>
          <p:nvPr/>
        </p:nvSpPr>
        <p:spPr>
          <a:xfrm>
            <a:off x="16076345" y="10284105"/>
            <a:ext cx="6908692" cy="18404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000" tIns="0" rIns="0" bIns="0" rtlCol="0" anchor="ctr"/>
          <a:lstStyle/>
          <a:p>
            <a:pPr marL="174625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Driving and building out M&amp;A activities</a:t>
            </a:r>
          </a:p>
          <a:p>
            <a:pPr marL="174625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Revised 3-year strategy plan, supporting CEO in organizational development</a:t>
            </a:r>
          </a:p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Financial planning </a:t>
            </a:r>
          </a:p>
        </p:txBody>
      </p:sp>
      <p:sp>
        <p:nvSpPr>
          <p:cNvPr id="203" name="Ellips 20">
            <a:extLst>
              <a:ext uri="{FF2B5EF4-FFF2-40B4-BE49-F238E27FC236}">
                <a16:creationId xmlns:a16="http://schemas.microsoft.com/office/drawing/2014/main" id="{0610A21A-ACF6-E6A1-D3A9-2AA6CE920274}"/>
              </a:ext>
            </a:extLst>
          </p:cNvPr>
          <p:cNvSpPr/>
          <p:nvPr/>
        </p:nvSpPr>
        <p:spPr>
          <a:xfrm>
            <a:off x="3941835" y="5126901"/>
            <a:ext cx="756000" cy="756000"/>
          </a:xfrm>
          <a:prstGeom prst="ellipse">
            <a:avLst/>
          </a:prstGeom>
          <a:gradFill>
            <a:gsLst>
              <a:gs pos="0">
                <a:srgbClr val="FFFF00"/>
              </a:gs>
              <a:gs pos="100000">
                <a:srgbClr val="00B050"/>
              </a:gs>
            </a:gsLst>
            <a:lin ang="2700000" scaled="0"/>
          </a:gra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endParaRPr lang="sv-SE" sz="3200">
              <a:solidFill>
                <a:srgbClr val="FFFFFF"/>
              </a:solidFill>
              <a:latin typeface="Helvetica Neue Medium"/>
              <a:sym typeface="Helvetica Neue Medium"/>
            </a:endParaRPr>
          </a:p>
        </p:txBody>
      </p:sp>
      <p:sp>
        <p:nvSpPr>
          <p:cNvPr id="12" name="Rektangel med rundade hörn 15">
            <a:extLst>
              <a:ext uri="{FF2B5EF4-FFF2-40B4-BE49-F238E27FC236}">
                <a16:creationId xmlns:a16="http://schemas.microsoft.com/office/drawing/2014/main" id="{D3F158AC-50CD-3DE8-6E19-86F4B8028B1C}"/>
              </a:ext>
            </a:extLst>
          </p:cNvPr>
          <p:cNvSpPr/>
          <p:nvPr/>
        </p:nvSpPr>
        <p:spPr>
          <a:xfrm>
            <a:off x="2512473" y="10757700"/>
            <a:ext cx="1865020" cy="90087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defTabSz="342802">
              <a:spcAft>
                <a:spcPts val="600"/>
              </a:spcAft>
              <a:tabLst>
                <a:tab pos="4030663" algn="l"/>
              </a:tabLst>
              <a:defRPr/>
            </a:pPr>
            <a:r>
              <a:rPr lang="en-US" sz="2000" b="1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7D focus and contribution</a:t>
            </a:r>
          </a:p>
        </p:txBody>
      </p:sp>
      <p:sp>
        <p:nvSpPr>
          <p:cNvPr id="13" name="Rektangel med rundade hörn 15">
            <a:extLst>
              <a:ext uri="{FF2B5EF4-FFF2-40B4-BE49-F238E27FC236}">
                <a16:creationId xmlns:a16="http://schemas.microsoft.com/office/drawing/2014/main" id="{198A1192-0A34-85FB-8597-7C976D4A95F2}"/>
              </a:ext>
            </a:extLst>
          </p:cNvPr>
          <p:cNvSpPr/>
          <p:nvPr/>
        </p:nvSpPr>
        <p:spPr>
          <a:xfrm>
            <a:off x="13504085" y="10757700"/>
            <a:ext cx="1865020" cy="90087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defTabSz="342802">
              <a:spcAft>
                <a:spcPts val="600"/>
              </a:spcAft>
              <a:tabLst>
                <a:tab pos="4030663" algn="l"/>
              </a:tabLst>
              <a:defRPr/>
            </a:pPr>
            <a:r>
              <a:rPr lang="en-US" sz="2000" b="1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7D focus and contribution</a:t>
            </a:r>
          </a:p>
        </p:txBody>
      </p:sp>
    </p:spTree>
    <p:extLst>
      <p:ext uri="{BB962C8B-B14F-4D97-AF65-F5344CB8AC3E}">
        <p14:creationId xmlns:p14="http://schemas.microsoft.com/office/powerpoint/2010/main" val="70728207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95660-63F3-9231-B456-CD4733880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traight Connector 3">
            <a:extLst>
              <a:ext uri="{FF2B5EF4-FFF2-40B4-BE49-F238E27FC236}">
                <a16:creationId xmlns:a16="http://schemas.microsoft.com/office/drawing/2014/main" id="{39DCF5B5-4E30-62D4-02E5-3F3A80A00BFB}"/>
              </a:ext>
            </a:extLst>
          </p:cNvPr>
          <p:cNvSpPr/>
          <p:nvPr/>
        </p:nvSpPr>
        <p:spPr>
          <a:xfrm flipH="1" flipV="1">
            <a:off x="-1" y="1840230"/>
            <a:ext cx="1235242" cy="0"/>
          </a:xfrm>
          <a:prstGeom prst="line">
            <a:avLst/>
          </a:prstGeom>
          <a:ln w="762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 algn="l" defTabSz="1828800">
              <a:defRPr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lang="en-US" dirty="0"/>
          </a:p>
        </p:txBody>
      </p:sp>
      <p:pic>
        <p:nvPicPr>
          <p:cNvPr id="3" name="Bild" descr="Bild">
            <a:extLst>
              <a:ext uri="{FF2B5EF4-FFF2-40B4-BE49-F238E27FC236}">
                <a16:creationId xmlns:a16="http://schemas.microsoft.com/office/drawing/2014/main" id="{F176070A-1702-10B6-FB95-6DBC77D10A5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93767" y="12693280"/>
            <a:ext cx="3107532" cy="491067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Box 2">
            <a:extLst>
              <a:ext uri="{FF2B5EF4-FFF2-40B4-BE49-F238E27FC236}">
                <a16:creationId xmlns:a16="http://schemas.microsoft.com/office/drawing/2014/main" id="{08611C86-A6F1-31D0-4650-C58EEE13DCEE}"/>
              </a:ext>
            </a:extLst>
          </p:cNvPr>
          <p:cNvSpPr txBox="1"/>
          <p:nvPr/>
        </p:nvSpPr>
        <p:spPr>
          <a:xfrm>
            <a:off x="1246186" y="12708070"/>
            <a:ext cx="12525569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08000" tIns="0" rIns="0" bIns="0">
            <a:spAutoFit/>
          </a:bodyPr>
          <a:lstStyle>
            <a:lvl1pPr algn="l" defTabSz="1828800">
              <a:defRPr sz="2800" b="1" cap="all" spc="100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Portfolio Company updates </a:t>
            </a:r>
          </a:p>
        </p:txBody>
      </p:sp>
      <p:sp>
        <p:nvSpPr>
          <p:cNvPr id="8" name="TextBox 1">
            <a:extLst>
              <a:ext uri="{FF2B5EF4-FFF2-40B4-BE49-F238E27FC236}">
                <a16:creationId xmlns:a16="http://schemas.microsoft.com/office/drawing/2014/main" id="{C77140E1-DB54-52E4-4B58-5F4671283218}"/>
              </a:ext>
            </a:extLst>
          </p:cNvPr>
          <p:cNvSpPr txBox="1"/>
          <p:nvPr/>
        </p:nvSpPr>
        <p:spPr>
          <a:xfrm>
            <a:off x="1678113" y="1270843"/>
            <a:ext cx="21423186" cy="1015663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l" defTabSz="1828800">
              <a:defRPr sz="7400" b="1">
                <a:solidFill>
                  <a:srgbClr val="000000"/>
                </a:solidFill>
              </a:defRPr>
            </a:pPr>
            <a:r>
              <a:rPr lang="en-GB" sz="6600" cap="all" dirty="0"/>
              <a:t>Portfolio company update, 3(5)</a:t>
            </a:r>
          </a:p>
        </p:txBody>
      </p:sp>
      <p:sp>
        <p:nvSpPr>
          <p:cNvPr id="9" name="Straight Connector 3">
            <a:extLst>
              <a:ext uri="{FF2B5EF4-FFF2-40B4-BE49-F238E27FC236}">
                <a16:creationId xmlns:a16="http://schemas.microsoft.com/office/drawing/2014/main" id="{2A408301-4197-98F8-2758-CBAC790B8B14}"/>
              </a:ext>
            </a:extLst>
          </p:cNvPr>
          <p:cNvSpPr/>
          <p:nvPr/>
        </p:nvSpPr>
        <p:spPr>
          <a:xfrm flipH="1" flipV="1">
            <a:off x="1246186" y="12520580"/>
            <a:ext cx="21855113" cy="0"/>
          </a:xfrm>
          <a:prstGeom prst="line">
            <a:avLst/>
          </a:prstGeom>
          <a:ln w="381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 algn="l" defTabSz="1828800">
              <a:defRPr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45" name="Rektangel med rundade hörn 15">
            <a:extLst>
              <a:ext uri="{FF2B5EF4-FFF2-40B4-BE49-F238E27FC236}">
                <a16:creationId xmlns:a16="http://schemas.microsoft.com/office/drawing/2014/main" id="{955FA8B4-C7CB-9CCB-A664-8DD86F4C5AE4}"/>
              </a:ext>
            </a:extLst>
          </p:cNvPr>
          <p:cNvSpPr/>
          <p:nvPr/>
        </p:nvSpPr>
        <p:spPr>
          <a:xfrm>
            <a:off x="1678113" y="3905017"/>
            <a:ext cx="1865020" cy="571304"/>
          </a:xfrm>
          <a:prstGeom prst="roundRect">
            <a:avLst>
              <a:gd name="adj" fmla="val 18637"/>
            </a:avLst>
          </a:prstGeom>
          <a:solidFill>
            <a:schemeClr val="bg2">
              <a:lumMod val="1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2370696">
              <a:spcBef>
                <a:spcPct val="0"/>
              </a:spcBef>
              <a:spcAft>
                <a:spcPts val="1600"/>
              </a:spcAft>
            </a:pPr>
            <a:r>
              <a:rPr lang="en-GB" sz="25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Area</a:t>
            </a:r>
          </a:p>
        </p:txBody>
      </p:sp>
      <p:sp>
        <p:nvSpPr>
          <p:cNvPr id="46" name="Rektangel med rundade hörn 15">
            <a:extLst>
              <a:ext uri="{FF2B5EF4-FFF2-40B4-BE49-F238E27FC236}">
                <a16:creationId xmlns:a16="http://schemas.microsoft.com/office/drawing/2014/main" id="{6C476A63-7D93-814D-3424-21ECA8714CEE}"/>
              </a:ext>
            </a:extLst>
          </p:cNvPr>
          <p:cNvSpPr/>
          <p:nvPr/>
        </p:nvSpPr>
        <p:spPr>
          <a:xfrm>
            <a:off x="5169906" y="4616654"/>
            <a:ext cx="6895714" cy="202363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000" tIns="0" rIns="0" bIns="0" rtlCol="0" anchor="ctr"/>
          <a:lstStyle/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Continued stable development in </a:t>
            </a:r>
            <a:r>
              <a:rPr lang="en-US" sz="1800" dirty="0" err="1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Kosterfiskar’n</a:t>
            </a: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companies. New sales strategy implemented by new CCO, starting to show promising results.</a:t>
            </a:r>
          </a:p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Thorough analysis on operations/performance in factory, likely resulting in reduction of headcount – both on leadership level and blue-collar workers to accelerate path to breakeven.</a:t>
            </a:r>
          </a:p>
        </p:txBody>
      </p:sp>
      <p:sp>
        <p:nvSpPr>
          <p:cNvPr id="47" name="Rektangel med rundade hörn 15">
            <a:extLst>
              <a:ext uri="{FF2B5EF4-FFF2-40B4-BE49-F238E27FC236}">
                <a16:creationId xmlns:a16="http://schemas.microsoft.com/office/drawing/2014/main" id="{CE7C769E-B181-5033-75B6-77441DAE0167}"/>
              </a:ext>
            </a:extLst>
          </p:cNvPr>
          <p:cNvSpPr/>
          <p:nvPr/>
        </p:nvSpPr>
        <p:spPr>
          <a:xfrm>
            <a:off x="5062654" y="3905017"/>
            <a:ext cx="7002966" cy="571304"/>
          </a:xfrm>
          <a:prstGeom prst="roundRect">
            <a:avLst>
              <a:gd name="adj" fmla="val 18637"/>
            </a:avLst>
          </a:prstGeom>
          <a:solidFill>
            <a:schemeClr val="bg2">
              <a:lumMod val="1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2370696">
              <a:spcBef>
                <a:spcPct val="0"/>
              </a:spcBef>
              <a:spcAft>
                <a:spcPts val="1600"/>
              </a:spcAft>
            </a:pPr>
            <a:r>
              <a:rPr lang="en-GB" sz="25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Update</a:t>
            </a:r>
          </a:p>
        </p:txBody>
      </p:sp>
      <p:sp>
        <p:nvSpPr>
          <p:cNvPr id="48" name="Rektangel med rundade hörn 15">
            <a:extLst>
              <a:ext uri="{FF2B5EF4-FFF2-40B4-BE49-F238E27FC236}">
                <a16:creationId xmlns:a16="http://schemas.microsoft.com/office/drawing/2014/main" id="{C8101388-5DFB-E4A5-3DFE-F54EA715DDAF}"/>
              </a:ext>
            </a:extLst>
          </p:cNvPr>
          <p:cNvSpPr/>
          <p:nvPr/>
        </p:nvSpPr>
        <p:spPr>
          <a:xfrm>
            <a:off x="3657600" y="3905017"/>
            <a:ext cx="1290587" cy="571304"/>
          </a:xfrm>
          <a:prstGeom prst="roundRect">
            <a:avLst>
              <a:gd name="adj" fmla="val 18637"/>
            </a:avLst>
          </a:prstGeom>
          <a:solidFill>
            <a:schemeClr val="bg2">
              <a:lumMod val="1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2370696">
              <a:spcBef>
                <a:spcPct val="0"/>
              </a:spcBef>
              <a:spcAft>
                <a:spcPts val="1600"/>
              </a:spcAft>
            </a:pPr>
            <a:r>
              <a:rPr lang="en-GB" sz="25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Status</a:t>
            </a:r>
          </a:p>
        </p:txBody>
      </p:sp>
      <p:sp>
        <p:nvSpPr>
          <p:cNvPr id="50" name="Rektangel med rundade hörn 15">
            <a:extLst>
              <a:ext uri="{FF2B5EF4-FFF2-40B4-BE49-F238E27FC236}">
                <a16:creationId xmlns:a16="http://schemas.microsoft.com/office/drawing/2014/main" id="{475F3CC8-7E0A-E7CB-0C47-8B787E3B28F7}"/>
              </a:ext>
            </a:extLst>
          </p:cNvPr>
          <p:cNvSpPr/>
          <p:nvPr/>
        </p:nvSpPr>
        <p:spPr>
          <a:xfrm>
            <a:off x="1679575" y="4616252"/>
            <a:ext cx="1863557" cy="2023629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defTabSz="342802">
              <a:spcAft>
                <a:spcPts val="600"/>
              </a:spcAft>
              <a:tabLst>
                <a:tab pos="4030663" algn="l"/>
              </a:tabLst>
              <a:defRPr/>
            </a:pPr>
            <a:r>
              <a:rPr lang="en-US" sz="20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Operational update</a:t>
            </a:r>
          </a:p>
        </p:txBody>
      </p:sp>
      <p:sp>
        <p:nvSpPr>
          <p:cNvPr id="51" name="Rektangel med rundade hörn 15">
            <a:extLst>
              <a:ext uri="{FF2B5EF4-FFF2-40B4-BE49-F238E27FC236}">
                <a16:creationId xmlns:a16="http://schemas.microsoft.com/office/drawing/2014/main" id="{E4BB378A-728E-5F6A-F6AA-1F944D35A0B4}"/>
              </a:ext>
            </a:extLst>
          </p:cNvPr>
          <p:cNvSpPr/>
          <p:nvPr/>
        </p:nvSpPr>
        <p:spPr>
          <a:xfrm>
            <a:off x="1679575" y="6861487"/>
            <a:ext cx="1863557" cy="1640255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defTabSz="342802">
              <a:spcAft>
                <a:spcPts val="600"/>
              </a:spcAft>
              <a:tabLst>
                <a:tab pos="4030663" algn="l"/>
              </a:tabLst>
              <a:defRPr/>
            </a:pPr>
            <a:r>
              <a:rPr lang="en-US" sz="20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Financial performance</a:t>
            </a:r>
          </a:p>
        </p:txBody>
      </p:sp>
      <p:sp>
        <p:nvSpPr>
          <p:cNvPr id="52" name="Rektangel med rundade hörn 15">
            <a:extLst>
              <a:ext uri="{FF2B5EF4-FFF2-40B4-BE49-F238E27FC236}">
                <a16:creationId xmlns:a16="http://schemas.microsoft.com/office/drawing/2014/main" id="{E734F2CC-A7DF-29C6-B579-B2B0F0036C4A}"/>
              </a:ext>
            </a:extLst>
          </p:cNvPr>
          <p:cNvSpPr/>
          <p:nvPr/>
        </p:nvSpPr>
        <p:spPr>
          <a:xfrm>
            <a:off x="1679575" y="8928901"/>
            <a:ext cx="1863557" cy="90087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defTabSz="342802">
              <a:spcAft>
                <a:spcPts val="600"/>
              </a:spcAft>
              <a:tabLst>
                <a:tab pos="4030663" algn="l"/>
              </a:tabLst>
              <a:defRPr/>
            </a:pPr>
            <a:r>
              <a:rPr lang="en-US" sz="20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Three-year value creation</a:t>
            </a:r>
          </a:p>
        </p:txBody>
      </p:sp>
      <p:sp>
        <p:nvSpPr>
          <p:cNvPr id="53" name="Rektangel med rundade hörn 15">
            <a:extLst>
              <a:ext uri="{FF2B5EF4-FFF2-40B4-BE49-F238E27FC236}">
                <a16:creationId xmlns:a16="http://schemas.microsoft.com/office/drawing/2014/main" id="{A4AE1C7D-84CD-374A-475A-E56BE0DAA92D}"/>
              </a:ext>
            </a:extLst>
          </p:cNvPr>
          <p:cNvSpPr/>
          <p:nvPr/>
        </p:nvSpPr>
        <p:spPr>
          <a:xfrm>
            <a:off x="2512473" y="10757700"/>
            <a:ext cx="1865020" cy="90087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defTabSz="342802">
              <a:spcAft>
                <a:spcPts val="600"/>
              </a:spcAft>
              <a:tabLst>
                <a:tab pos="4030663" algn="l"/>
              </a:tabLst>
              <a:defRPr/>
            </a:pPr>
            <a:r>
              <a:rPr lang="en-US" sz="2000" b="1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7D focus and contribution</a:t>
            </a:r>
          </a:p>
        </p:txBody>
      </p:sp>
      <p:cxnSp>
        <p:nvCxnSpPr>
          <p:cNvPr id="54" name="Rak koppling 53">
            <a:extLst>
              <a:ext uri="{FF2B5EF4-FFF2-40B4-BE49-F238E27FC236}">
                <a16:creationId xmlns:a16="http://schemas.microsoft.com/office/drawing/2014/main" id="{25972EB0-37DD-6101-6CC1-7C1F4BAA861B}"/>
              </a:ext>
            </a:extLst>
          </p:cNvPr>
          <p:cNvCxnSpPr>
            <a:cxnSpLocks/>
          </p:cNvCxnSpPr>
          <p:nvPr/>
        </p:nvCxnSpPr>
        <p:spPr>
          <a:xfrm>
            <a:off x="1678113" y="6640286"/>
            <a:ext cx="10387507" cy="0"/>
          </a:xfrm>
          <a:prstGeom prst="line">
            <a:avLst/>
          </a:prstGeom>
          <a:noFill/>
          <a:ln w="25400" cap="flat">
            <a:solidFill>
              <a:srgbClr val="16E7CF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5" name="Rak koppling 54">
            <a:extLst>
              <a:ext uri="{FF2B5EF4-FFF2-40B4-BE49-F238E27FC236}">
                <a16:creationId xmlns:a16="http://schemas.microsoft.com/office/drawing/2014/main" id="{8548BC49-DAC0-9883-5FEA-DE02B6283424}"/>
              </a:ext>
            </a:extLst>
          </p:cNvPr>
          <p:cNvCxnSpPr>
            <a:cxnSpLocks/>
          </p:cNvCxnSpPr>
          <p:nvPr/>
        </p:nvCxnSpPr>
        <p:spPr>
          <a:xfrm>
            <a:off x="1678113" y="8501743"/>
            <a:ext cx="10387507" cy="0"/>
          </a:xfrm>
          <a:prstGeom prst="line">
            <a:avLst/>
          </a:prstGeom>
          <a:noFill/>
          <a:ln w="25400" cap="flat">
            <a:solidFill>
              <a:srgbClr val="16E7CF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6" name="Rak koppling 55">
            <a:extLst>
              <a:ext uri="{FF2B5EF4-FFF2-40B4-BE49-F238E27FC236}">
                <a16:creationId xmlns:a16="http://schemas.microsoft.com/office/drawing/2014/main" id="{24B8320A-DC88-E3D4-7F72-DECCF89B2667}"/>
              </a:ext>
            </a:extLst>
          </p:cNvPr>
          <p:cNvCxnSpPr>
            <a:cxnSpLocks/>
          </p:cNvCxnSpPr>
          <p:nvPr/>
        </p:nvCxnSpPr>
        <p:spPr>
          <a:xfrm>
            <a:off x="1678112" y="10330543"/>
            <a:ext cx="10387507" cy="0"/>
          </a:xfrm>
          <a:prstGeom prst="line">
            <a:avLst/>
          </a:prstGeom>
          <a:noFill/>
          <a:ln w="25400" cap="flat">
            <a:solidFill>
              <a:srgbClr val="16E7CF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7" name="Rektangel med rundade hörn 15">
            <a:extLst>
              <a:ext uri="{FF2B5EF4-FFF2-40B4-BE49-F238E27FC236}">
                <a16:creationId xmlns:a16="http://schemas.microsoft.com/office/drawing/2014/main" id="{20BCB5E5-A915-7037-00AF-DB8A20CC7774}"/>
              </a:ext>
            </a:extLst>
          </p:cNvPr>
          <p:cNvSpPr/>
          <p:nvPr/>
        </p:nvSpPr>
        <p:spPr>
          <a:xfrm>
            <a:off x="5169906" y="6628591"/>
            <a:ext cx="6895714" cy="18404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000" tIns="0" rIns="0" bIns="0" rtlCol="0" anchor="ctr"/>
          <a:lstStyle/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Slow start in Jan and Feb – however, these are the slowest months from seasonality perspective. Strong March (incl. Easter) compared to budget (strongest Easter ever).</a:t>
            </a:r>
          </a:p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EBITDA roughly on budget after Q1’26 (preliminary).</a:t>
            </a:r>
          </a:p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Stable cash flow-position.</a:t>
            </a:r>
          </a:p>
        </p:txBody>
      </p:sp>
      <p:sp>
        <p:nvSpPr>
          <p:cNvPr id="58" name="Ellips 57">
            <a:extLst>
              <a:ext uri="{FF2B5EF4-FFF2-40B4-BE49-F238E27FC236}">
                <a16:creationId xmlns:a16="http://schemas.microsoft.com/office/drawing/2014/main" id="{29056462-B41A-01BB-F04E-5571AB9FC266}"/>
              </a:ext>
            </a:extLst>
          </p:cNvPr>
          <p:cNvSpPr/>
          <p:nvPr/>
        </p:nvSpPr>
        <p:spPr>
          <a:xfrm>
            <a:off x="3941835" y="7320556"/>
            <a:ext cx="722116" cy="722116"/>
          </a:xfrm>
          <a:prstGeom prst="ellipse">
            <a:avLst/>
          </a:prstGeom>
          <a:solidFill>
            <a:srgbClr val="FFFF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sv-SE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9" name="Ellips 58">
            <a:extLst>
              <a:ext uri="{FF2B5EF4-FFF2-40B4-BE49-F238E27FC236}">
                <a16:creationId xmlns:a16="http://schemas.microsoft.com/office/drawing/2014/main" id="{C32B408C-0B2E-9817-FC64-B0C008D6A608}"/>
              </a:ext>
            </a:extLst>
          </p:cNvPr>
          <p:cNvSpPr/>
          <p:nvPr/>
        </p:nvSpPr>
        <p:spPr>
          <a:xfrm>
            <a:off x="3941835" y="9014498"/>
            <a:ext cx="722116" cy="722116"/>
          </a:xfrm>
          <a:prstGeom prst="ellipse">
            <a:avLst/>
          </a:prstGeom>
          <a:solidFill>
            <a:srgbClr val="FFFF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sv-SE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1" name="Rektangel med rundade hörn 15">
            <a:extLst>
              <a:ext uri="{FF2B5EF4-FFF2-40B4-BE49-F238E27FC236}">
                <a16:creationId xmlns:a16="http://schemas.microsoft.com/office/drawing/2014/main" id="{4B900A02-BF44-04DB-A80F-78B1F90DD186}"/>
              </a:ext>
            </a:extLst>
          </p:cNvPr>
          <p:cNvSpPr/>
          <p:nvPr/>
        </p:nvSpPr>
        <p:spPr>
          <a:xfrm>
            <a:off x="5195861" y="8490051"/>
            <a:ext cx="6895714" cy="18404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000" tIns="0" rIns="0" bIns="0" rtlCol="0" anchor="ctr"/>
          <a:lstStyle/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Slight update of business plan with even more focus on profitability over growth and new strategic initiatives.</a:t>
            </a:r>
          </a:p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Full focus on turnaround of production company and establish new sales model.</a:t>
            </a:r>
          </a:p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Several M&amp;A dialogues ongoing, incl. additional acquisitions within the </a:t>
            </a:r>
            <a:r>
              <a:rPr lang="en-US" sz="1800" dirty="0" err="1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Kosterfiskar’n</a:t>
            </a: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group.</a:t>
            </a:r>
          </a:p>
        </p:txBody>
      </p:sp>
      <p:sp>
        <p:nvSpPr>
          <p:cNvPr id="62" name="Rektangel med rundade hörn 15">
            <a:extLst>
              <a:ext uri="{FF2B5EF4-FFF2-40B4-BE49-F238E27FC236}">
                <a16:creationId xmlns:a16="http://schemas.microsoft.com/office/drawing/2014/main" id="{041AA8DC-7A16-66FE-EB78-069C76C2C50C}"/>
              </a:ext>
            </a:extLst>
          </p:cNvPr>
          <p:cNvSpPr/>
          <p:nvPr/>
        </p:nvSpPr>
        <p:spPr>
          <a:xfrm>
            <a:off x="5195857" y="10483608"/>
            <a:ext cx="6895717" cy="18404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000" tIns="0" rIns="0" bIns="0" rtlCol="0" anchor="ctr"/>
          <a:lstStyle/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Ensure completion of factory review and implementation of cost-saving measures</a:t>
            </a:r>
          </a:p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Focus on keeping management’s prioritization in the order of profitability, growth and new initiatives</a:t>
            </a:r>
          </a:p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Supporting in financing/onboarding additional investors</a:t>
            </a:r>
          </a:p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Supporting in add-on acquisitions / mapping out M&amp;A landscape</a:t>
            </a:r>
          </a:p>
        </p:txBody>
      </p:sp>
      <p:cxnSp>
        <p:nvCxnSpPr>
          <p:cNvPr id="209" name="Rak koppling 208">
            <a:extLst>
              <a:ext uri="{FF2B5EF4-FFF2-40B4-BE49-F238E27FC236}">
                <a16:creationId xmlns:a16="http://schemas.microsoft.com/office/drawing/2014/main" id="{EC14BFAE-76E7-09B8-985B-DED783A3DE01}"/>
              </a:ext>
            </a:extLst>
          </p:cNvPr>
          <p:cNvCxnSpPr>
            <a:cxnSpLocks/>
          </p:cNvCxnSpPr>
          <p:nvPr/>
        </p:nvCxnSpPr>
        <p:spPr>
          <a:xfrm>
            <a:off x="12300857" y="2514600"/>
            <a:ext cx="0" cy="9840279"/>
          </a:xfrm>
          <a:prstGeom prst="line">
            <a:avLst/>
          </a:prstGeom>
          <a:noFill/>
          <a:ln w="762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210" name="Picture 3" descr="Responsible investing focused on the ocean - Ocean Collective">
            <a:extLst>
              <a:ext uri="{FF2B5EF4-FFF2-40B4-BE49-F238E27FC236}">
                <a16:creationId xmlns:a16="http://schemas.microsoft.com/office/drawing/2014/main" id="{2FD34A8E-72B5-4589-6A60-3301507935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0175" y="2501286"/>
            <a:ext cx="3487676" cy="1234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>
            <a:extLst>
              <a:ext uri="{FF2B5EF4-FFF2-40B4-BE49-F238E27FC236}">
                <a16:creationId xmlns:a16="http://schemas.microsoft.com/office/drawing/2014/main" id="{B8DED845-E7B0-4045-65BE-370D30B19A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03327" y="2382922"/>
            <a:ext cx="1524000" cy="1425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ktangel med rundade hörn 15">
            <a:extLst>
              <a:ext uri="{FF2B5EF4-FFF2-40B4-BE49-F238E27FC236}">
                <a16:creationId xmlns:a16="http://schemas.microsoft.com/office/drawing/2014/main" id="{37D9F287-20AE-B1B2-C257-A09DA930E508}"/>
              </a:ext>
            </a:extLst>
          </p:cNvPr>
          <p:cNvSpPr/>
          <p:nvPr/>
        </p:nvSpPr>
        <p:spPr>
          <a:xfrm>
            <a:off x="12571575" y="3905017"/>
            <a:ext cx="1865020" cy="571304"/>
          </a:xfrm>
          <a:prstGeom prst="roundRect">
            <a:avLst>
              <a:gd name="adj" fmla="val 18637"/>
            </a:avLst>
          </a:prstGeom>
          <a:solidFill>
            <a:schemeClr val="bg2">
              <a:lumMod val="1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2370696">
              <a:spcBef>
                <a:spcPct val="0"/>
              </a:spcBef>
              <a:spcAft>
                <a:spcPts val="1600"/>
              </a:spcAft>
            </a:pPr>
            <a:r>
              <a:rPr lang="en-GB" sz="25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Area</a:t>
            </a:r>
          </a:p>
        </p:txBody>
      </p:sp>
      <p:sp>
        <p:nvSpPr>
          <p:cNvPr id="27" name="Rektangel med rundade hörn 15">
            <a:extLst>
              <a:ext uri="{FF2B5EF4-FFF2-40B4-BE49-F238E27FC236}">
                <a16:creationId xmlns:a16="http://schemas.microsoft.com/office/drawing/2014/main" id="{07F8D3CF-93EE-CB41-EF7B-BC395F197584}"/>
              </a:ext>
            </a:extLst>
          </p:cNvPr>
          <p:cNvSpPr/>
          <p:nvPr/>
        </p:nvSpPr>
        <p:spPr>
          <a:xfrm>
            <a:off x="15956116" y="3905017"/>
            <a:ext cx="7002966" cy="571304"/>
          </a:xfrm>
          <a:prstGeom prst="roundRect">
            <a:avLst>
              <a:gd name="adj" fmla="val 18637"/>
            </a:avLst>
          </a:prstGeom>
          <a:solidFill>
            <a:schemeClr val="bg2">
              <a:lumMod val="1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2370696">
              <a:spcBef>
                <a:spcPct val="0"/>
              </a:spcBef>
              <a:spcAft>
                <a:spcPts val="1600"/>
              </a:spcAft>
            </a:pPr>
            <a:r>
              <a:rPr lang="en-GB" sz="25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Update</a:t>
            </a:r>
          </a:p>
        </p:txBody>
      </p:sp>
      <p:sp>
        <p:nvSpPr>
          <p:cNvPr id="28" name="Rektangel med rundade hörn 15">
            <a:extLst>
              <a:ext uri="{FF2B5EF4-FFF2-40B4-BE49-F238E27FC236}">
                <a16:creationId xmlns:a16="http://schemas.microsoft.com/office/drawing/2014/main" id="{E667EEF5-676E-51FB-8876-71C9D5D84D45}"/>
              </a:ext>
            </a:extLst>
          </p:cNvPr>
          <p:cNvSpPr/>
          <p:nvPr/>
        </p:nvSpPr>
        <p:spPr>
          <a:xfrm>
            <a:off x="14551062" y="3905017"/>
            <a:ext cx="1290587" cy="571304"/>
          </a:xfrm>
          <a:prstGeom prst="roundRect">
            <a:avLst>
              <a:gd name="adj" fmla="val 18637"/>
            </a:avLst>
          </a:prstGeom>
          <a:solidFill>
            <a:schemeClr val="bg2">
              <a:lumMod val="1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2370696">
              <a:spcBef>
                <a:spcPct val="0"/>
              </a:spcBef>
              <a:spcAft>
                <a:spcPts val="1600"/>
              </a:spcAft>
            </a:pPr>
            <a:r>
              <a:rPr lang="en-GB" sz="25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Status</a:t>
            </a:r>
          </a:p>
        </p:txBody>
      </p:sp>
      <p:sp>
        <p:nvSpPr>
          <p:cNvPr id="29" name="Rektangel med rundade hörn 15">
            <a:extLst>
              <a:ext uri="{FF2B5EF4-FFF2-40B4-BE49-F238E27FC236}">
                <a16:creationId xmlns:a16="http://schemas.microsoft.com/office/drawing/2014/main" id="{19AAC074-ACCF-78FC-174F-4C8206BABA86}"/>
              </a:ext>
            </a:extLst>
          </p:cNvPr>
          <p:cNvSpPr/>
          <p:nvPr/>
        </p:nvSpPr>
        <p:spPr>
          <a:xfrm>
            <a:off x="15956112" y="4561790"/>
            <a:ext cx="7002966" cy="202363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000" tIns="0" rIns="0" bIns="0" rtlCol="0" anchor="ctr"/>
          <a:lstStyle/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Significant quality / performance concerns identified, some forecasted and some new – not affected end customers yet but puts strain on relationship with SAAB</a:t>
            </a:r>
          </a:p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Significant efforts in putting new platform (CX10) in production, taking much longer than expected</a:t>
            </a:r>
          </a:p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Aftermarket and sales setup is under evaluation </a:t>
            </a:r>
          </a:p>
        </p:txBody>
      </p:sp>
      <p:sp>
        <p:nvSpPr>
          <p:cNvPr id="30" name="Ellips 29">
            <a:extLst>
              <a:ext uri="{FF2B5EF4-FFF2-40B4-BE49-F238E27FC236}">
                <a16:creationId xmlns:a16="http://schemas.microsoft.com/office/drawing/2014/main" id="{729AF365-1FBD-29D2-2C1A-B0BCFFE58297}"/>
              </a:ext>
            </a:extLst>
          </p:cNvPr>
          <p:cNvSpPr/>
          <p:nvPr/>
        </p:nvSpPr>
        <p:spPr>
          <a:xfrm>
            <a:off x="14835297" y="5125594"/>
            <a:ext cx="722116" cy="756000"/>
          </a:xfrm>
          <a:prstGeom prst="ellipse">
            <a:avLst/>
          </a:prstGeom>
          <a:gradFill>
            <a:gsLst>
              <a:gs pos="0">
                <a:srgbClr val="FFFF00"/>
              </a:gs>
              <a:gs pos="100000">
                <a:srgbClr val="00B050"/>
              </a:gs>
            </a:gsLst>
            <a:lin ang="2700000" scaled="0"/>
          </a:gra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endParaRPr lang="sv-SE" sz="3200">
              <a:solidFill>
                <a:srgbClr val="FFFFFF"/>
              </a:solidFill>
              <a:latin typeface="Helvetica Neue Medium"/>
              <a:sym typeface="Helvetica Neue Medium"/>
            </a:endParaRPr>
          </a:p>
        </p:txBody>
      </p:sp>
      <p:sp>
        <p:nvSpPr>
          <p:cNvPr id="31" name="Rektangel med rundade hörn 15">
            <a:extLst>
              <a:ext uri="{FF2B5EF4-FFF2-40B4-BE49-F238E27FC236}">
                <a16:creationId xmlns:a16="http://schemas.microsoft.com/office/drawing/2014/main" id="{87E78797-5A9D-D5FD-9D5C-0F45509A10C4}"/>
              </a:ext>
            </a:extLst>
          </p:cNvPr>
          <p:cNvSpPr/>
          <p:nvPr/>
        </p:nvSpPr>
        <p:spPr>
          <a:xfrm>
            <a:off x="12573037" y="4616252"/>
            <a:ext cx="1863557" cy="2023629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defTabSz="342802">
              <a:spcAft>
                <a:spcPts val="600"/>
              </a:spcAft>
              <a:tabLst>
                <a:tab pos="4030663" algn="l"/>
              </a:tabLst>
              <a:defRPr/>
            </a:pPr>
            <a:r>
              <a:rPr lang="en-US" sz="20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Operational update</a:t>
            </a:r>
          </a:p>
        </p:txBody>
      </p:sp>
      <p:sp>
        <p:nvSpPr>
          <p:cNvPr id="32" name="Rektangel med rundade hörn 15">
            <a:extLst>
              <a:ext uri="{FF2B5EF4-FFF2-40B4-BE49-F238E27FC236}">
                <a16:creationId xmlns:a16="http://schemas.microsoft.com/office/drawing/2014/main" id="{10A1ACF6-45CD-8464-EF2C-C6CB5D54B539}"/>
              </a:ext>
            </a:extLst>
          </p:cNvPr>
          <p:cNvSpPr/>
          <p:nvPr/>
        </p:nvSpPr>
        <p:spPr>
          <a:xfrm>
            <a:off x="12573037" y="6861487"/>
            <a:ext cx="1863557" cy="1640255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defTabSz="342802">
              <a:spcAft>
                <a:spcPts val="600"/>
              </a:spcAft>
              <a:tabLst>
                <a:tab pos="4030663" algn="l"/>
              </a:tabLst>
              <a:defRPr/>
            </a:pPr>
            <a:r>
              <a:rPr lang="en-US" sz="20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Financial performance</a:t>
            </a:r>
          </a:p>
        </p:txBody>
      </p:sp>
      <p:sp>
        <p:nvSpPr>
          <p:cNvPr id="33" name="Rektangel med rundade hörn 15">
            <a:extLst>
              <a:ext uri="{FF2B5EF4-FFF2-40B4-BE49-F238E27FC236}">
                <a16:creationId xmlns:a16="http://schemas.microsoft.com/office/drawing/2014/main" id="{C8FB086F-5422-40BC-3568-505BBF18F051}"/>
              </a:ext>
            </a:extLst>
          </p:cNvPr>
          <p:cNvSpPr/>
          <p:nvPr/>
        </p:nvSpPr>
        <p:spPr>
          <a:xfrm>
            <a:off x="12573037" y="8928901"/>
            <a:ext cx="1863557" cy="90087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defTabSz="342802">
              <a:spcAft>
                <a:spcPts val="600"/>
              </a:spcAft>
              <a:tabLst>
                <a:tab pos="4030663" algn="l"/>
              </a:tabLst>
              <a:defRPr/>
            </a:pPr>
            <a:r>
              <a:rPr lang="en-US" sz="20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Three-year value creation</a:t>
            </a:r>
          </a:p>
        </p:txBody>
      </p:sp>
      <p:cxnSp>
        <p:nvCxnSpPr>
          <p:cNvPr id="35" name="Rak koppling 34">
            <a:extLst>
              <a:ext uri="{FF2B5EF4-FFF2-40B4-BE49-F238E27FC236}">
                <a16:creationId xmlns:a16="http://schemas.microsoft.com/office/drawing/2014/main" id="{457293E8-87F3-210A-111D-14C042F5CF7B}"/>
              </a:ext>
            </a:extLst>
          </p:cNvPr>
          <p:cNvCxnSpPr>
            <a:cxnSpLocks/>
          </p:cNvCxnSpPr>
          <p:nvPr/>
        </p:nvCxnSpPr>
        <p:spPr>
          <a:xfrm>
            <a:off x="12571575" y="6603710"/>
            <a:ext cx="10387507" cy="0"/>
          </a:xfrm>
          <a:prstGeom prst="line">
            <a:avLst/>
          </a:prstGeom>
          <a:noFill/>
          <a:ln w="25400" cap="flat">
            <a:solidFill>
              <a:srgbClr val="16E7CF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Rak koppling 35">
            <a:extLst>
              <a:ext uri="{FF2B5EF4-FFF2-40B4-BE49-F238E27FC236}">
                <a16:creationId xmlns:a16="http://schemas.microsoft.com/office/drawing/2014/main" id="{1B90B650-9047-5EDB-9730-50EBA8BA914E}"/>
              </a:ext>
            </a:extLst>
          </p:cNvPr>
          <p:cNvCxnSpPr>
            <a:cxnSpLocks/>
          </p:cNvCxnSpPr>
          <p:nvPr/>
        </p:nvCxnSpPr>
        <p:spPr>
          <a:xfrm>
            <a:off x="12571575" y="8501743"/>
            <a:ext cx="10387507" cy="0"/>
          </a:xfrm>
          <a:prstGeom prst="line">
            <a:avLst/>
          </a:prstGeom>
          <a:noFill/>
          <a:ln w="25400" cap="flat">
            <a:solidFill>
              <a:srgbClr val="16E7CF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Rak koppling 36">
            <a:extLst>
              <a:ext uri="{FF2B5EF4-FFF2-40B4-BE49-F238E27FC236}">
                <a16:creationId xmlns:a16="http://schemas.microsoft.com/office/drawing/2014/main" id="{82FACDE8-3731-EFCB-3759-BE5E2EACF734}"/>
              </a:ext>
            </a:extLst>
          </p:cNvPr>
          <p:cNvCxnSpPr>
            <a:cxnSpLocks/>
          </p:cNvCxnSpPr>
          <p:nvPr/>
        </p:nvCxnSpPr>
        <p:spPr>
          <a:xfrm>
            <a:off x="12571574" y="10330543"/>
            <a:ext cx="10387507" cy="0"/>
          </a:xfrm>
          <a:prstGeom prst="line">
            <a:avLst/>
          </a:prstGeom>
          <a:noFill/>
          <a:ln w="25400" cap="flat">
            <a:solidFill>
              <a:srgbClr val="16E7CF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8" name="Rektangel med rundade hörn 15">
            <a:extLst>
              <a:ext uri="{FF2B5EF4-FFF2-40B4-BE49-F238E27FC236}">
                <a16:creationId xmlns:a16="http://schemas.microsoft.com/office/drawing/2014/main" id="{D97786B6-6693-7F00-91E7-0D4F6AC01FEB}"/>
              </a:ext>
            </a:extLst>
          </p:cNvPr>
          <p:cNvSpPr/>
          <p:nvPr/>
        </p:nvSpPr>
        <p:spPr>
          <a:xfrm>
            <a:off x="15956112" y="6628591"/>
            <a:ext cx="7002966" cy="18404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000" tIns="0" rIns="0" bIns="0" rtlCol="0" anchor="ctr"/>
          <a:lstStyle/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Strong start of 2026, major deliveries completed to key customer pushing LTM figures up to ~30 MSEK in sales, </a:t>
            </a:r>
          </a:p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Stable orderbook but not growing as expected</a:t>
            </a:r>
          </a:p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Budget for -26 is 60 MSEK in revenue and +/-0 EBITDA</a:t>
            </a:r>
          </a:p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Right share issue to be completed in H1-26 (15 MSEK)</a:t>
            </a:r>
          </a:p>
        </p:txBody>
      </p:sp>
      <p:sp>
        <p:nvSpPr>
          <p:cNvPr id="39" name="Ellips 38">
            <a:extLst>
              <a:ext uri="{FF2B5EF4-FFF2-40B4-BE49-F238E27FC236}">
                <a16:creationId xmlns:a16="http://schemas.microsoft.com/office/drawing/2014/main" id="{4866D293-8109-7D2C-6DD6-60E9C44C55F5}"/>
              </a:ext>
            </a:extLst>
          </p:cNvPr>
          <p:cNvSpPr/>
          <p:nvPr/>
        </p:nvSpPr>
        <p:spPr>
          <a:xfrm>
            <a:off x="14835297" y="7263248"/>
            <a:ext cx="756000" cy="756000"/>
          </a:xfrm>
          <a:prstGeom prst="ellipse">
            <a:avLst/>
          </a:prstGeom>
          <a:solidFill>
            <a:srgbClr val="FFC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endParaRPr lang="sv-SE" sz="3200">
              <a:solidFill>
                <a:srgbClr val="FFFFFF"/>
              </a:solidFill>
              <a:latin typeface="Helvetica Neue Medium"/>
              <a:sym typeface="Helvetica Neue Medium"/>
            </a:endParaRPr>
          </a:p>
        </p:txBody>
      </p:sp>
      <p:sp>
        <p:nvSpPr>
          <p:cNvPr id="40" name="Ellips 39">
            <a:extLst>
              <a:ext uri="{FF2B5EF4-FFF2-40B4-BE49-F238E27FC236}">
                <a16:creationId xmlns:a16="http://schemas.microsoft.com/office/drawing/2014/main" id="{DA9306CB-AFFA-63CD-C13E-056FF8F71F0C}"/>
              </a:ext>
            </a:extLst>
          </p:cNvPr>
          <p:cNvSpPr/>
          <p:nvPr/>
        </p:nvSpPr>
        <p:spPr>
          <a:xfrm>
            <a:off x="14835297" y="9014498"/>
            <a:ext cx="722116" cy="722116"/>
          </a:xfrm>
          <a:prstGeom prst="ellipse">
            <a:avLst/>
          </a:prstGeom>
          <a:gradFill>
            <a:gsLst>
              <a:gs pos="0">
                <a:srgbClr val="FFFF00"/>
              </a:gs>
              <a:gs pos="100000">
                <a:srgbClr val="00B050"/>
              </a:gs>
            </a:gsLst>
            <a:lin ang="2700000" scaled="0"/>
          </a:gra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endParaRPr lang="sv-SE" sz="3200">
              <a:solidFill>
                <a:srgbClr val="FFFFFF"/>
              </a:solidFill>
              <a:latin typeface="Helvetica Neue Medium"/>
              <a:sym typeface="Helvetica Neue Medium"/>
            </a:endParaRPr>
          </a:p>
        </p:txBody>
      </p:sp>
      <p:sp>
        <p:nvSpPr>
          <p:cNvPr id="42" name="Rektangel med rundade hörn 15">
            <a:extLst>
              <a:ext uri="{FF2B5EF4-FFF2-40B4-BE49-F238E27FC236}">
                <a16:creationId xmlns:a16="http://schemas.microsoft.com/office/drawing/2014/main" id="{5C986235-B3E5-6B28-AC0A-BE7099F29C4A}"/>
              </a:ext>
            </a:extLst>
          </p:cNvPr>
          <p:cNvSpPr/>
          <p:nvPr/>
        </p:nvSpPr>
        <p:spPr>
          <a:xfrm>
            <a:off x="15956112" y="8490051"/>
            <a:ext cx="7002966" cy="18404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000" tIns="0" rIns="0" bIns="0" rtlCol="0" anchor="ctr"/>
          <a:lstStyle/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Need to hit budget for the year and build up a strong orderbook in order to establish baseline for a potential exit process</a:t>
            </a:r>
          </a:p>
          <a:p>
            <a:pPr marL="174625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Strategic focus: Divest earlier rather than later on high EV/Sales, order book and sales are continue to take longer than expected</a:t>
            </a:r>
          </a:p>
          <a:p>
            <a:pPr marL="174625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Selected of advisor to be done in H2, exit-process during 2027 </a:t>
            </a:r>
          </a:p>
        </p:txBody>
      </p:sp>
      <p:sp>
        <p:nvSpPr>
          <p:cNvPr id="43" name="Rektangel med rundade hörn 15">
            <a:extLst>
              <a:ext uri="{FF2B5EF4-FFF2-40B4-BE49-F238E27FC236}">
                <a16:creationId xmlns:a16="http://schemas.microsoft.com/office/drawing/2014/main" id="{8BFD23D0-B985-172B-5391-8CA46625AF32}"/>
              </a:ext>
            </a:extLst>
          </p:cNvPr>
          <p:cNvSpPr/>
          <p:nvPr/>
        </p:nvSpPr>
        <p:spPr>
          <a:xfrm>
            <a:off x="15942884" y="10491807"/>
            <a:ext cx="7016145" cy="18404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000" tIns="0" rIns="0" bIns="0" rtlCol="0" anchor="ctr"/>
          <a:lstStyle/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Start to plan and position for exit</a:t>
            </a:r>
          </a:p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Support fundraising/financing of the company – both through equity and alternative sources </a:t>
            </a:r>
          </a:p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Supporting CEO and evaluation organizational setup </a:t>
            </a:r>
          </a:p>
        </p:txBody>
      </p:sp>
      <p:sp>
        <p:nvSpPr>
          <p:cNvPr id="2" name="Ellips 1">
            <a:extLst>
              <a:ext uri="{FF2B5EF4-FFF2-40B4-BE49-F238E27FC236}">
                <a16:creationId xmlns:a16="http://schemas.microsoft.com/office/drawing/2014/main" id="{F81F41AF-7A40-7F03-3520-2DE85171CA4B}"/>
              </a:ext>
            </a:extLst>
          </p:cNvPr>
          <p:cNvSpPr/>
          <p:nvPr/>
        </p:nvSpPr>
        <p:spPr>
          <a:xfrm>
            <a:off x="3941835" y="5267412"/>
            <a:ext cx="722116" cy="722116"/>
          </a:xfrm>
          <a:prstGeom prst="ellipse">
            <a:avLst/>
          </a:prstGeom>
          <a:solidFill>
            <a:srgbClr val="FFFF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sv-SE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ektangel med rundade hörn 15">
            <a:extLst>
              <a:ext uri="{FF2B5EF4-FFF2-40B4-BE49-F238E27FC236}">
                <a16:creationId xmlns:a16="http://schemas.microsoft.com/office/drawing/2014/main" id="{F6B5C22F-16C5-AF41-FFA1-570282A81945}"/>
              </a:ext>
            </a:extLst>
          </p:cNvPr>
          <p:cNvSpPr/>
          <p:nvPr/>
        </p:nvSpPr>
        <p:spPr>
          <a:xfrm>
            <a:off x="13504085" y="10757700"/>
            <a:ext cx="1865020" cy="90087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defTabSz="342802">
              <a:spcAft>
                <a:spcPts val="600"/>
              </a:spcAft>
              <a:tabLst>
                <a:tab pos="4030663" algn="l"/>
              </a:tabLst>
              <a:defRPr/>
            </a:pPr>
            <a:r>
              <a:rPr lang="en-US" sz="2000" b="1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7D focus and contribution</a:t>
            </a:r>
          </a:p>
        </p:txBody>
      </p:sp>
    </p:spTree>
    <p:extLst>
      <p:ext uri="{BB962C8B-B14F-4D97-AF65-F5344CB8AC3E}">
        <p14:creationId xmlns:p14="http://schemas.microsoft.com/office/powerpoint/2010/main" val="186370284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9AC66-9280-8911-D166-C6484A2DE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 3">
            <a:extLst>
              <a:ext uri="{FF2B5EF4-FFF2-40B4-BE49-F238E27FC236}">
                <a16:creationId xmlns:a16="http://schemas.microsoft.com/office/drawing/2014/main" id="{7ED11066-3EF5-4374-2EC1-0D6C20660220}"/>
              </a:ext>
            </a:extLst>
          </p:cNvPr>
          <p:cNvSpPr/>
          <p:nvPr/>
        </p:nvSpPr>
        <p:spPr>
          <a:xfrm>
            <a:off x="3941835" y="5156590"/>
            <a:ext cx="722116" cy="722116"/>
          </a:xfrm>
          <a:prstGeom prst="ellipse">
            <a:avLst/>
          </a:prstGeom>
          <a:solidFill>
            <a:srgbClr val="00B05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sv-SE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4" name="Straight Connector 3">
            <a:extLst>
              <a:ext uri="{FF2B5EF4-FFF2-40B4-BE49-F238E27FC236}">
                <a16:creationId xmlns:a16="http://schemas.microsoft.com/office/drawing/2014/main" id="{F24B9D0E-F25C-153B-B853-7D7906054BD7}"/>
              </a:ext>
            </a:extLst>
          </p:cNvPr>
          <p:cNvSpPr/>
          <p:nvPr/>
        </p:nvSpPr>
        <p:spPr>
          <a:xfrm flipH="1" flipV="1">
            <a:off x="-1" y="1840230"/>
            <a:ext cx="1235242" cy="0"/>
          </a:xfrm>
          <a:prstGeom prst="line">
            <a:avLst/>
          </a:prstGeom>
          <a:ln w="762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 algn="l" defTabSz="1828800">
              <a:defRPr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lang="en-US" dirty="0"/>
          </a:p>
        </p:txBody>
      </p:sp>
      <p:pic>
        <p:nvPicPr>
          <p:cNvPr id="3" name="Bild" descr="Bild">
            <a:extLst>
              <a:ext uri="{FF2B5EF4-FFF2-40B4-BE49-F238E27FC236}">
                <a16:creationId xmlns:a16="http://schemas.microsoft.com/office/drawing/2014/main" id="{0D0A7A13-BF87-5587-20BB-B8B044F626D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93767" y="12693280"/>
            <a:ext cx="3107532" cy="491067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Box 2">
            <a:extLst>
              <a:ext uri="{FF2B5EF4-FFF2-40B4-BE49-F238E27FC236}">
                <a16:creationId xmlns:a16="http://schemas.microsoft.com/office/drawing/2014/main" id="{7746F11A-2E46-7690-6B07-B7DDEA1A214B}"/>
              </a:ext>
            </a:extLst>
          </p:cNvPr>
          <p:cNvSpPr txBox="1"/>
          <p:nvPr/>
        </p:nvSpPr>
        <p:spPr>
          <a:xfrm>
            <a:off x="1246186" y="12708070"/>
            <a:ext cx="12525569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08000" tIns="0" rIns="0" bIns="0">
            <a:spAutoFit/>
          </a:bodyPr>
          <a:lstStyle>
            <a:lvl1pPr algn="l" defTabSz="1828800">
              <a:defRPr sz="2800" b="1" cap="all" spc="100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Portfolio Company updates </a:t>
            </a:r>
          </a:p>
        </p:txBody>
      </p:sp>
      <p:sp>
        <p:nvSpPr>
          <p:cNvPr id="8" name="TextBox 1">
            <a:extLst>
              <a:ext uri="{FF2B5EF4-FFF2-40B4-BE49-F238E27FC236}">
                <a16:creationId xmlns:a16="http://schemas.microsoft.com/office/drawing/2014/main" id="{BFD85B9E-D2E9-1E5F-780B-4305A61BA4B2}"/>
              </a:ext>
            </a:extLst>
          </p:cNvPr>
          <p:cNvSpPr txBox="1"/>
          <p:nvPr/>
        </p:nvSpPr>
        <p:spPr>
          <a:xfrm>
            <a:off x="1678113" y="1270843"/>
            <a:ext cx="21423186" cy="1015663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l" defTabSz="1828800">
              <a:defRPr sz="7400" b="1">
                <a:solidFill>
                  <a:srgbClr val="000000"/>
                </a:solidFill>
              </a:defRPr>
            </a:pPr>
            <a:r>
              <a:rPr lang="en-GB" sz="6600" cap="all" dirty="0"/>
              <a:t>Portfolio company update, 4(5)</a:t>
            </a:r>
          </a:p>
        </p:txBody>
      </p:sp>
      <p:sp>
        <p:nvSpPr>
          <p:cNvPr id="9" name="Straight Connector 3">
            <a:extLst>
              <a:ext uri="{FF2B5EF4-FFF2-40B4-BE49-F238E27FC236}">
                <a16:creationId xmlns:a16="http://schemas.microsoft.com/office/drawing/2014/main" id="{2434F09C-ED02-CC96-45EC-E1E959B9D6D1}"/>
              </a:ext>
            </a:extLst>
          </p:cNvPr>
          <p:cNvSpPr/>
          <p:nvPr/>
        </p:nvSpPr>
        <p:spPr>
          <a:xfrm flipH="1" flipV="1">
            <a:off x="1246186" y="12520580"/>
            <a:ext cx="21855113" cy="0"/>
          </a:xfrm>
          <a:prstGeom prst="line">
            <a:avLst/>
          </a:prstGeom>
          <a:ln w="381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 algn="l" defTabSz="1828800">
              <a:defRPr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45" name="Rektangel med rundade hörn 15">
            <a:extLst>
              <a:ext uri="{FF2B5EF4-FFF2-40B4-BE49-F238E27FC236}">
                <a16:creationId xmlns:a16="http://schemas.microsoft.com/office/drawing/2014/main" id="{A20C5EEA-7681-7175-E344-994404FD7A08}"/>
              </a:ext>
            </a:extLst>
          </p:cNvPr>
          <p:cNvSpPr/>
          <p:nvPr/>
        </p:nvSpPr>
        <p:spPr>
          <a:xfrm>
            <a:off x="1678113" y="3905017"/>
            <a:ext cx="1865020" cy="571304"/>
          </a:xfrm>
          <a:prstGeom prst="roundRect">
            <a:avLst>
              <a:gd name="adj" fmla="val 18637"/>
            </a:avLst>
          </a:prstGeom>
          <a:solidFill>
            <a:schemeClr val="bg2">
              <a:lumMod val="1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2370696">
              <a:spcBef>
                <a:spcPct val="0"/>
              </a:spcBef>
              <a:spcAft>
                <a:spcPts val="1600"/>
              </a:spcAft>
            </a:pPr>
            <a:r>
              <a:rPr lang="en-GB" sz="25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Area</a:t>
            </a:r>
          </a:p>
        </p:txBody>
      </p:sp>
      <p:sp>
        <p:nvSpPr>
          <p:cNvPr id="46" name="Rektangel med rundade hörn 15">
            <a:extLst>
              <a:ext uri="{FF2B5EF4-FFF2-40B4-BE49-F238E27FC236}">
                <a16:creationId xmlns:a16="http://schemas.microsoft.com/office/drawing/2014/main" id="{64EBC53F-95AA-96C3-CE58-5EC3C606B9E9}"/>
              </a:ext>
            </a:extLst>
          </p:cNvPr>
          <p:cNvSpPr/>
          <p:nvPr/>
        </p:nvSpPr>
        <p:spPr>
          <a:xfrm>
            <a:off x="5169906" y="4616654"/>
            <a:ext cx="6895714" cy="202363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000" tIns="0" rIns="0" bIns="0" rtlCol="0" anchor="ctr"/>
          <a:lstStyle/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Continued good momentum with many strong and ongoing customer dialogues, however closing of new customers lagging behind</a:t>
            </a:r>
          </a:p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Focus on recruitment of new employees – especially to the commercial team to keep up activity level</a:t>
            </a:r>
          </a:p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Significantly increased productivity due to usage of AI in coding</a:t>
            </a:r>
          </a:p>
        </p:txBody>
      </p:sp>
      <p:sp>
        <p:nvSpPr>
          <p:cNvPr id="47" name="Rektangel med rundade hörn 15">
            <a:extLst>
              <a:ext uri="{FF2B5EF4-FFF2-40B4-BE49-F238E27FC236}">
                <a16:creationId xmlns:a16="http://schemas.microsoft.com/office/drawing/2014/main" id="{7B897560-83E0-33D0-6BED-11B6F0BC80E1}"/>
              </a:ext>
            </a:extLst>
          </p:cNvPr>
          <p:cNvSpPr/>
          <p:nvPr/>
        </p:nvSpPr>
        <p:spPr>
          <a:xfrm>
            <a:off x="5062654" y="3905017"/>
            <a:ext cx="7002966" cy="571304"/>
          </a:xfrm>
          <a:prstGeom prst="roundRect">
            <a:avLst>
              <a:gd name="adj" fmla="val 18637"/>
            </a:avLst>
          </a:prstGeom>
          <a:solidFill>
            <a:schemeClr val="bg2">
              <a:lumMod val="1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2370696">
              <a:spcBef>
                <a:spcPct val="0"/>
              </a:spcBef>
              <a:spcAft>
                <a:spcPts val="1600"/>
              </a:spcAft>
            </a:pPr>
            <a:r>
              <a:rPr lang="en-GB" sz="25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Update</a:t>
            </a:r>
          </a:p>
        </p:txBody>
      </p:sp>
      <p:sp>
        <p:nvSpPr>
          <p:cNvPr id="48" name="Rektangel med rundade hörn 15">
            <a:extLst>
              <a:ext uri="{FF2B5EF4-FFF2-40B4-BE49-F238E27FC236}">
                <a16:creationId xmlns:a16="http://schemas.microsoft.com/office/drawing/2014/main" id="{2F9051AC-9471-B19C-2BC4-8253C1B8FB69}"/>
              </a:ext>
            </a:extLst>
          </p:cNvPr>
          <p:cNvSpPr/>
          <p:nvPr/>
        </p:nvSpPr>
        <p:spPr>
          <a:xfrm>
            <a:off x="3657600" y="3905017"/>
            <a:ext cx="1290587" cy="571304"/>
          </a:xfrm>
          <a:prstGeom prst="roundRect">
            <a:avLst>
              <a:gd name="adj" fmla="val 18637"/>
            </a:avLst>
          </a:prstGeom>
          <a:solidFill>
            <a:schemeClr val="bg2">
              <a:lumMod val="1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2370696">
              <a:spcBef>
                <a:spcPct val="0"/>
              </a:spcBef>
              <a:spcAft>
                <a:spcPts val="1600"/>
              </a:spcAft>
            </a:pPr>
            <a:r>
              <a:rPr lang="en-GB" sz="25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Status</a:t>
            </a:r>
          </a:p>
        </p:txBody>
      </p:sp>
      <p:sp>
        <p:nvSpPr>
          <p:cNvPr id="50" name="Rektangel med rundade hörn 15">
            <a:extLst>
              <a:ext uri="{FF2B5EF4-FFF2-40B4-BE49-F238E27FC236}">
                <a16:creationId xmlns:a16="http://schemas.microsoft.com/office/drawing/2014/main" id="{73C2374D-AF19-0277-CBCF-4B917918AD53}"/>
              </a:ext>
            </a:extLst>
          </p:cNvPr>
          <p:cNvSpPr/>
          <p:nvPr/>
        </p:nvSpPr>
        <p:spPr>
          <a:xfrm>
            <a:off x="1679575" y="4616252"/>
            <a:ext cx="1863557" cy="2023629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defTabSz="342802">
              <a:spcAft>
                <a:spcPts val="600"/>
              </a:spcAft>
              <a:tabLst>
                <a:tab pos="4030663" algn="l"/>
              </a:tabLst>
              <a:defRPr/>
            </a:pPr>
            <a:r>
              <a:rPr lang="en-US" sz="20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Operational update</a:t>
            </a:r>
          </a:p>
        </p:txBody>
      </p:sp>
      <p:sp>
        <p:nvSpPr>
          <p:cNvPr id="51" name="Rektangel med rundade hörn 15">
            <a:extLst>
              <a:ext uri="{FF2B5EF4-FFF2-40B4-BE49-F238E27FC236}">
                <a16:creationId xmlns:a16="http://schemas.microsoft.com/office/drawing/2014/main" id="{D8F34533-764C-6E4B-28A8-40F10079C516}"/>
              </a:ext>
            </a:extLst>
          </p:cNvPr>
          <p:cNvSpPr/>
          <p:nvPr/>
        </p:nvSpPr>
        <p:spPr>
          <a:xfrm>
            <a:off x="1679575" y="6861487"/>
            <a:ext cx="1863557" cy="1640255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defTabSz="342802">
              <a:spcAft>
                <a:spcPts val="600"/>
              </a:spcAft>
              <a:tabLst>
                <a:tab pos="4030663" algn="l"/>
              </a:tabLst>
              <a:defRPr/>
            </a:pPr>
            <a:r>
              <a:rPr lang="en-US" sz="20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Financial performance</a:t>
            </a:r>
          </a:p>
        </p:txBody>
      </p:sp>
      <p:sp>
        <p:nvSpPr>
          <p:cNvPr id="52" name="Rektangel med rundade hörn 15">
            <a:extLst>
              <a:ext uri="{FF2B5EF4-FFF2-40B4-BE49-F238E27FC236}">
                <a16:creationId xmlns:a16="http://schemas.microsoft.com/office/drawing/2014/main" id="{597A2735-302F-D468-E9EA-96B6E17770E1}"/>
              </a:ext>
            </a:extLst>
          </p:cNvPr>
          <p:cNvSpPr/>
          <p:nvPr/>
        </p:nvSpPr>
        <p:spPr>
          <a:xfrm>
            <a:off x="1679575" y="8928901"/>
            <a:ext cx="1863557" cy="90087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defTabSz="342802">
              <a:spcAft>
                <a:spcPts val="600"/>
              </a:spcAft>
              <a:tabLst>
                <a:tab pos="4030663" algn="l"/>
              </a:tabLst>
              <a:defRPr/>
            </a:pPr>
            <a:r>
              <a:rPr lang="en-US" sz="20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Three-year value creation</a:t>
            </a:r>
          </a:p>
        </p:txBody>
      </p:sp>
      <p:cxnSp>
        <p:nvCxnSpPr>
          <p:cNvPr id="54" name="Rak koppling 53">
            <a:extLst>
              <a:ext uri="{FF2B5EF4-FFF2-40B4-BE49-F238E27FC236}">
                <a16:creationId xmlns:a16="http://schemas.microsoft.com/office/drawing/2014/main" id="{72843B3C-761D-DD13-B51C-4188BCA8B786}"/>
              </a:ext>
            </a:extLst>
          </p:cNvPr>
          <p:cNvCxnSpPr>
            <a:cxnSpLocks/>
          </p:cNvCxnSpPr>
          <p:nvPr/>
        </p:nvCxnSpPr>
        <p:spPr>
          <a:xfrm>
            <a:off x="1678113" y="6640286"/>
            <a:ext cx="10387507" cy="0"/>
          </a:xfrm>
          <a:prstGeom prst="line">
            <a:avLst/>
          </a:prstGeom>
          <a:noFill/>
          <a:ln w="25400" cap="flat">
            <a:solidFill>
              <a:srgbClr val="16E7CF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5" name="Rak koppling 54">
            <a:extLst>
              <a:ext uri="{FF2B5EF4-FFF2-40B4-BE49-F238E27FC236}">
                <a16:creationId xmlns:a16="http://schemas.microsoft.com/office/drawing/2014/main" id="{4345B342-20B3-9C64-4204-455268D5E180}"/>
              </a:ext>
            </a:extLst>
          </p:cNvPr>
          <p:cNvCxnSpPr>
            <a:cxnSpLocks/>
          </p:cNvCxnSpPr>
          <p:nvPr/>
        </p:nvCxnSpPr>
        <p:spPr>
          <a:xfrm>
            <a:off x="1678113" y="8501743"/>
            <a:ext cx="10387507" cy="0"/>
          </a:xfrm>
          <a:prstGeom prst="line">
            <a:avLst/>
          </a:prstGeom>
          <a:noFill/>
          <a:ln w="25400" cap="flat">
            <a:solidFill>
              <a:srgbClr val="16E7CF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6" name="Rak koppling 55">
            <a:extLst>
              <a:ext uri="{FF2B5EF4-FFF2-40B4-BE49-F238E27FC236}">
                <a16:creationId xmlns:a16="http://schemas.microsoft.com/office/drawing/2014/main" id="{D1260B36-0198-6618-7BD1-8B571481BE5B}"/>
              </a:ext>
            </a:extLst>
          </p:cNvPr>
          <p:cNvCxnSpPr>
            <a:cxnSpLocks/>
          </p:cNvCxnSpPr>
          <p:nvPr/>
        </p:nvCxnSpPr>
        <p:spPr>
          <a:xfrm>
            <a:off x="1678112" y="10330543"/>
            <a:ext cx="10387507" cy="0"/>
          </a:xfrm>
          <a:prstGeom prst="line">
            <a:avLst/>
          </a:prstGeom>
          <a:noFill/>
          <a:ln w="25400" cap="flat">
            <a:solidFill>
              <a:srgbClr val="16E7CF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7" name="Rektangel med rundade hörn 15">
            <a:extLst>
              <a:ext uri="{FF2B5EF4-FFF2-40B4-BE49-F238E27FC236}">
                <a16:creationId xmlns:a16="http://schemas.microsoft.com/office/drawing/2014/main" id="{90C340B4-B8D5-66CF-5082-3C07B13B74E9}"/>
              </a:ext>
            </a:extLst>
          </p:cNvPr>
          <p:cNvSpPr/>
          <p:nvPr/>
        </p:nvSpPr>
        <p:spPr>
          <a:xfrm>
            <a:off x="5169906" y="6628591"/>
            <a:ext cx="6895714" cy="18404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000" tIns="0" rIns="0" bIns="0" rtlCol="0" anchor="ctr"/>
          <a:lstStyle/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Lagging behind sales budget in Q1 due to slower onboarding of new customers than planned. </a:t>
            </a:r>
          </a:p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However, revenue and EBITDA better than budget due to better performance among current customers.</a:t>
            </a:r>
          </a:p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Strong balance sheet and share issue from Viking confirmed.</a:t>
            </a:r>
          </a:p>
        </p:txBody>
      </p:sp>
      <p:sp>
        <p:nvSpPr>
          <p:cNvPr id="59" name="Ellips 58">
            <a:extLst>
              <a:ext uri="{FF2B5EF4-FFF2-40B4-BE49-F238E27FC236}">
                <a16:creationId xmlns:a16="http://schemas.microsoft.com/office/drawing/2014/main" id="{640C1031-AC8D-D9B9-D626-F9053B738B22}"/>
              </a:ext>
            </a:extLst>
          </p:cNvPr>
          <p:cNvSpPr/>
          <p:nvPr/>
        </p:nvSpPr>
        <p:spPr>
          <a:xfrm>
            <a:off x="3941835" y="9014498"/>
            <a:ext cx="722116" cy="722116"/>
          </a:xfrm>
          <a:prstGeom prst="ellipse">
            <a:avLst/>
          </a:prstGeom>
          <a:solidFill>
            <a:srgbClr val="00B05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sv-SE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1" name="Rektangel med rundade hörn 15">
            <a:extLst>
              <a:ext uri="{FF2B5EF4-FFF2-40B4-BE49-F238E27FC236}">
                <a16:creationId xmlns:a16="http://schemas.microsoft.com/office/drawing/2014/main" id="{7DA9DB04-C443-F4AF-8445-0F6FED2318AB}"/>
              </a:ext>
            </a:extLst>
          </p:cNvPr>
          <p:cNvSpPr/>
          <p:nvPr/>
        </p:nvSpPr>
        <p:spPr>
          <a:xfrm>
            <a:off x="5195861" y="8490051"/>
            <a:ext cx="6895714" cy="18404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000" tIns="0" rIns="0" bIns="0" rtlCol="0" anchor="ctr"/>
          <a:lstStyle/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New three-year plan / VCP under development together with Viking. M&amp;A likely to be additional component.</a:t>
            </a:r>
          </a:p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Developing well in line with plan – strategic position maintained in relation to competitors</a:t>
            </a:r>
          </a:p>
        </p:txBody>
      </p:sp>
      <p:sp>
        <p:nvSpPr>
          <p:cNvPr id="62" name="Rektangel med rundade hörn 15">
            <a:extLst>
              <a:ext uri="{FF2B5EF4-FFF2-40B4-BE49-F238E27FC236}">
                <a16:creationId xmlns:a16="http://schemas.microsoft.com/office/drawing/2014/main" id="{BC61C779-FD13-CF53-EEB5-B4F9FD7683A5}"/>
              </a:ext>
            </a:extLst>
          </p:cNvPr>
          <p:cNvSpPr/>
          <p:nvPr/>
        </p:nvSpPr>
        <p:spPr>
          <a:xfrm>
            <a:off x="5182883" y="10284105"/>
            <a:ext cx="6908692" cy="18404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000" tIns="0" rIns="0" bIns="0" rtlCol="0" anchor="ctr"/>
          <a:lstStyle/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Finalize transaction with Viking and onboard them as new investors</a:t>
            </a:r>
          </a:p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Secure smooth board transition post transaction</a:t>
            </a:r>
          </a:p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  <a:r>
              <a:rPr lang="en-US" sz="18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Establish focus and speed of execution in VCP post transaction</a:t>
            </a:r>
          </a:p>
        </p:txBody>
      </p:sp>
      <p:pic>
        <p:nvPicPr>
          <p:cNvPr id="210" name="Picture 4" descr="Inretrn returlösning – Returhantering på ett smartare sätt.">
            <a:extLst>
              <a:ext uri="{FF2B5EF4-FFF2-40B4-BE49-F238E27FC236}">
                <a16:creationId xmlns:a16="http://schemas.microsoft.com/office/drawing/2014/main" id="{6D60F9F0-824C-4F61-9611-D76336EC00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3115" y="2741882"/>
            <a:ext cx="2857500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ktangel med rundade hörn 15">
            <a:extLst>
              <a:ext uri="{FF2B5EF4-FFF2-40B4-BE49-F238E27FC236}">
                <a16:creationId xmlns:a16="http://schemas.microsoft.com/office/drawing/2014/main" id="{E209A53E-57CF-15E1-4AE9-C8348EDCB848}"/>
              </a:ext>
            </a:extLst>
          </p:cNvPr>
          <p:cNvSpPr/>
          <p:nvPr/>
        </p:nvSpPr>
        <p:spPr>
          <a:xfrm>
            <a:off x="2512473" y="10757700"/>
            <a:ext cx="1865020" cy="90087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defTabSz="342802">
              <a:spcAft>
                <a:spcPts val="600"/>
              </a:spcAft>
              <a:tabLst>
                <a:tab pos="4030663" algn="l"/>
              </a:tabLst>
              <a:defRPr/>
            </a:pPr>
            <a:r>
              <a:rPr lang="en-US" sz="2000" b="1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7D focus and contribution</a:t>
            </a:r>
          </a:p>
        </p:txBody>
      </p:sp>
      <p:sp>
        <p:nvSpPr>
          <p:cNvPr id="7" name="Ellips 6">
            <a:extLst>
              <a:ext uri="{FF2B5EF4-FFF2-40B4-BE49-F238E27FC236}">
                <a16:creationId xmlns:a16="http://schemas.microsoft.com/office/drawing/2014/main" id="{151B7991-534D-3EC0-4492-23B8EA5A72F3}"/>
              </a:ext>
            </a:extLst>
          </p:cNvPr>
          <p:cNvSpPr/>
          <p:nvPr/>
        </p:nvSpPr>
        <p:spPr>
          <a:xfrm>
            <a:off x="3924893" y="7303614"/>
            <a:ext cx="756000" cy="756000"/>
          </a:xfrm>
          <a:prstGeom prst="ellipse">
            <a:avLst/>
          </a:prstGeom>
          <a:gradFill>
            <a:gsLst>
              <a:gs pos="0">
                <a:srgbClr val="FFFF00"/>
              </a:gs>
              <a:gs pos="100000">
                <a:srgbClr val="00B050"/>
              </a:gs>
            </a:gsLst>
            <a:lin ang="2700000" scaled="0"/>
          </a:gra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endParaRPr lang="sv-SE" sz="3200">
              <a:solidFill>
                <a:srgbClr val="FFFFFF"/>
              </a:solidFill>
              <a:latin typeface="Helvetica Neue Medium"/>
              <a:sym typeface="Helvetica Neue Medium"/>
            </a:endParaRPr>
          </a:p>
        </p:txBody>
      </p:sp>
      <p:pic>
        <p:nvPicPr>
          <p:cNvPr id="3" name="Bild" descr="Bild">
            <a:extLst>
              <a:ext uri="{FF2B5EF4-FFF2-40B4-BE49-F238E27FC236}">
                <a16:creationId xmlns:a16="http://schemas.microsoft.com/office/drawing/2014/main" id="{F176070A-1702-10B6-FB95-6DBC77D10A5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93767" y="12693280"/>
            <a:ext cx="3107532" cy="491067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209" name="Rak koppling 208">
            <a:extLst>
              <a:ext uri="{FF2B5EF4-FFF2-40B4-BE49-F238E27FC236}">
                <a16:creationId xmlns:a16="http://schemas.microsoft.com/office/drawing/2014/main" id="{EC14BFAE-76E7-09B8-985B-DED783A3DE01}"/>
              </a:ext>
            </a:extLst>
          </p:cNvPr>
          <p:cNvCxnSpPr>
            <a:cxnSpLocks/>
          </p:cNvCxnSpPr>
          <p:nvPr/>
        </p:nvCxnSpPr>
        <p:spPr>
          <a:xfrm>
            <a:off x="12300857" y="2514600"/>
            <a:ext cx="0" cy="9840279"/>
          </a:xfrm>
          <a:prstGeom prst="line">
            <a:avLst/>
          </a:prstGeom>
          <a:noFill/>
          <a:ln w="762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6" name="Rektangel med rundade hörn 15">
            <a:extLst>
              <a:ext uri="{FF2B5EF4-FFF2-40B4-BE49-F238E27FC236}">
                <a16:creationId xmlns:a16="http://schemas.microsoft.com/office/drawing/2014/main" id="{37D9F287-20AE-B1B2-C257-A09DA930E508}"/>
              </a:ext>
            </a:extLst>
          </p:cNvPr>
          <p:cNvSpPr/>
          <p:nvPr/>
        </p:nvSpPr>
        <p:spPr>
          <a:xfrm>
            <a:off x="12571575" y="3905017"/>
            <a:ext cx="1865020" cy="571304"/>
          </a:xfrm>
          <a:prstGeom prst="roundRect">
            <a:avLst>
              <a:gd name="adj" fmla="val 18637"/>
            </a:avLst>
          </a:prstGeom>
          <a:solidFill>
            <a:schemeClr val="bg2">
              <a:lumMod val="1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2370696">
              <a:spcBef>
                <a:spcPct val="0"/>
              </a:spcBef>
              <a:spcAft>
                <a:spcPts val="1600"/>
              </a:spcAft>
            </a:pPr>
            <a:r>
              <a:rPr lang="en-GB" sz="25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Area</a:t>
            </a:r>
          </a:p>
        </p:txBody>
      </p:sp>
      <p:sp>
        <p:nvSpPr>
          <p:cNvPr id="27" name="Rektangel med rundade hörn 15">
            <a:extLst>
              <a:ext uri="{FF2B5EF4-FFF2-40B4-BE49-F238E27FC236}">
                <a16:creationId xmlns:a16="http://schemas.microsoft.com/office/drawing/2014/main" id="{07F8D3CF-93EE-CB41-EF7B-BC395F197584}"/>
              </a:ext>
            </a:extLst>
          </p:cNvPr>
          <p:cNvSpPr/>
          <p:nvPr/>
        </p:nvSpPr>
        <p:spPr>
          <a:xfrm>
            <a:off x="15956116" y="3905017"/>
            <a:ext cx="7002966" cy="571304"/>
          </a:xfrm>
          <a:prstGeom prst="roundRect">
            <a:avLst>
              <a:gd name="adj" fmla="val 18637"/>
            </a:avLst>
          </a:prstGeom>
          <a:solidFill>
            <a:schemeClr val="bg2">
              <a:lumMod val="1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2370696">
              <a:spcBef>
                <a:spcPct val="0"/>
              </a:spcBef>
              <a:spcAft>
                <a:spcPts val="1600"/>
              </a:spcAft>
            </a:pPr>
            <a:r>
              <a:rPr lang="en-GB" sz="25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Update</a:t>
            </a:r>
          </a:p>
        </p:txBody>
      </p:sp>
      <p:sp>
        <p:nvSpPr>
          <p:cNvPr id="28" name="Rektangel med rundade hörn 15">
            <a:extLst>
              <a:ext uri="{FF2B5EF4-FFF2-40B4-BE49-F238E27FC236}">
                <a16:creationId xmlns:a16="http://schemas.microsoft.com/office/drawing/2014/main" id="{E667EEF5-676E-51FB-8876-71C9D5D84D45}"/>
              </a:ext>
            </a:extLst>
          </p:cNvPr>
          <p:cNvSpPr/>
          <p:nvPr/>
        </p:nvSpPr>
        <p:spPr>
          <a:xfrm>
            <a:off x="14551062" y="3905017"/>
            <a:ext cx="1290587" cy="571304"/>
          </a:xfrm>
          <a:prstGeom prst="roundRect">
            <a:avLst>
              <a:gd name="adj" fmla="val 18637"/>
            </a:avLst>
          </a:prstGeom>
          <a:solidFill>
            <a:schemeClr val="bg2">
              <a:lumMod val="1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2370696">
              <a:spcBef>
                <a:spcPct val="0"/>
              </a:spcBef>
              <a:spcAft>
                <a:spcPts val="1600"/>
              </a:spcAft>
            </a:pPr>
            <a:r>
              <a:rPr lang="en-GB" sz="25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Status</a:t>
            </a:r>
          </a:p>
        </p:txBody>
      </p:sp>
      <p:sp>
        <p:nvSpPr>
          <p:cNvPr id="29" name="Rektangel med rundade hörn 15">
            <a:extLst>
              <a:ext uri="{FF2B5EF4-FFF2-40B4-BE49-F238E27FC236}">
                <a16:creationId xmlns:a16="http://schemas.microsoft.com/office/drawing/2014/main" id="{19AAC074-ACCF-78FC-174F-4C8206BABA86}"/>
              </a:ext>
            </a:extLst>
          </p:cNvPr>
          <p:cNvSpPr/>
          <p:nvPr/>
        </p:nvSpPr>
        <p:spPr>
          <a:xfrm>
            <a:off x="15956112" y="4561790"/>
            <a:ext cx="7002966" cy="202363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000" tIns="0" rIns="0" bIns="0" rtlCol="0" anchor="ctr"/>
          <a:lstStyle/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</a:p>
        </p:txBody>
      </p:sp>
      <p:sp>
        <p:nvSpPr>
          <p:cNvPr id="30" name="Ellips 29">
            <a:extLst>
              <a:ext uri="{FF2B5EF4-FFF2-40B4-BE49-F238E27FC236}">
                <a16:creationId xmlns:a16="http://schemas.microsoft.com/office/drawing/2014/main" id="{729AF365-1FBD-29D2-2C1A-B0BCFFE58297}"/>
              </a:ext>
            </a:extLst>
          </p:cNvPr>
          <p:cNvSpPr/>
          <p:nvPr/>
        </p:nvSpPr>
        <p:spPr>
          <a:xfrm>
            <a:off x="14835297" y="5125594"/>
            <a:ext cx="722116" cy="756000"/>
          </a:xfrm>
          <a:prstGeom prst="ellipse">
            <a:avLst/>
          </a:prstGeom>
          <a:solidFill>
            <a:srgbClr val="BFBFB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endParaRPr lang="sv-SE" sz="3200">
              <a:solidFill>
                <a:srgbClr val="FFFFFF"/>
              </a:solidFill>
              <a:latin typeface="Helvetica Neue Medium"/>
              <a:sym typeface="Helvetica Neue Medium"/>
            </a:endParaRPr>
          </a:p>
        </p:txBody>
      </p:sp>
      <p:sp>
        <p:nvSpPr>
          <p:cNvPr id="31" name="Rektangel med rundade hörn 15">
            <a:extLst>
              <a:ext uri="{FF2B5EF4-FFF2-40B4-BE49-F238E27FC236}">
                <a16:creationId xmlns:a16="http://schemas.microsoft.com/office/drawing/2014/main" id="{87E78797-5A9D-D5FD-9D5C-0F45509A10C4}"/>
              </a:ext>
            </a:extLst>
          </p:cNvPr>
          <p:cNvSpPr/>
          <p:nvPr/>
        </p:nvSpPr>
        <p:spPr>
          <a:xfrm>
            <a:off x="12573037" y="4616252"/>
            <a:ext cx="1863557" cy="2023629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defTabSz="342802">
              <a:spcAft>
                <a:spcPts val="600"/>
              </a:spcAft>
              <a:tabLst>
                <a:tab pos="4030663" algn="l"/>
              </a:tabLst>
              <a:defRPr/>
            </a:pPr>
            <a:r>
              <a:rPr lang="en-US" sz="20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Operational update</a:t>
            </a:r>
          </a:p>
        </p:txBody>
      </p:sp>
      <p:sp>
        <p:nvSpPr>
          <p:cNvPr id="32" name="Rektangel med rundade hörn 15">
            <a:extLst>
              <a:ext uri="{FF2B5EF4-FFF2-40B4-BE49-F238E27FC236}">
                <a16:creationId xmlns:a16="http://schemas.microsoft.com/office/drawing/2014/main" id="{10A1ACF6-45CD-8464-EF2C-C6CB5D54B539}"/>
              </a:ext>
            </a:extLst>
          </p:cNvPr>
          <p:cNvSpPr/>
          <p:nvPr/>
        </p:nvSpPr>
        <p:spPr>
          <a:xfrm>
            <a:off x="12573037" y="6861487"/>
            <a:ext cx="1863557" cy="1640255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defTabSz="342802">
              <a:spcAft>
                <a:spcPts val="600"/>
              </a:spcAft>
              <a:tabLst>
                <a:tab pos="4030663" algn="l"/>
              </a:tabLst>
              <a:defRPr/>
            </a:pPr>
            <a:r>
              <a:rPr lang="en-US" sz="20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Financial performance</a:t>
            </a:r>
          </a:p>
        </p:txBody>
      </p:sp>
      <p:sp>
        <p:nvSpPr>
          <p:cNvPr id="33" name="Rektangel med rundade hörn 15">
            <a:extLst>
              <a:ext uri="{FF2B5EF4-FFF2-40B4-BE49-F238E27FC236}">
                <a16:creationId xmlns:a16="http://schemas.microsoft.com/office/drawing/2014/main" id="{C8FB086F-5422-40BC-3568-505BBF18F051}"/>
              </a:ext>
            </a:extLst>
          </p:cNvPr>
          <p:cNvSpPr/>
          <p:nvPr/>
        </p:nvSpPr>
        <p:spPr>
          <a:xfrm>
            <a:off x="12573037" y="8928901"/>
            <a:ext cx="1863557" cy="90087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defTabSz="342802">
              <a:spcAft>
                <a:spcPts val="600"/>
              </a:spcAft>
              <a:tabLst>
                <a:tab pos="4030663" algn="l"/>
              </a:tabLst>
              <a:defRPr/>
            </a:pPr>
            <a:r>
              <a:rPr lang="en-US" sz="20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Three-year value creation</a:t>
            </a:r>
          </a:p>
        </p:txBody>
      </p:sp>
      <p:cxnSp>
        <p:nvCxnSpPr>
          <p:cNvPr id="35" name="Rak koppling 34">
            <a:extLst>
              <a:ext uri="{FF2B5EF4-FFF2-40B4-BE49-F238E27FC236}">
                <a16:creationId xmlns:a16="http://schemas.microsoft.com/office/drawing/2014/main" id="{457293E8-87F3-210A-111D-14C042F5CF7B}"/>
              </a:ext>
            </a:extLst>
          </p:cNvPr>
          <p:cNvCxnSpPr>
            <a:cxnSpLocks/>
          </p:cNvCxnSpPr>
          <p:nvPr/>
        </p:nvCxnSpPr>
        <p:spPr>
          <a:xfrm>
            <a:off x="12571575" y="6603710"/>
            <a:ext cx="10387507" cy="0"/>
          </a:xfrm>
          <a:prstGeom prst="line">
            <a:avLst/>
          </a:prstGeom>
          <a:noFill/>
          <a:ln w="25400" cap="flat">
            <a:solidFill>
              <a:srgbClr val="16E7CF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Rak koppling 35">
            <a:extLst>
              <a:ext uri="{FF2B5EF4-FFF2-40B4-BE49-F238E27FC236}">
                <a16:creationId xmlns:a16="http://schemas.microsoft.com/office/drawing/2014/main" id="{1B90B650-9047-5EDB-9730-50EBA8BA914E}"/>
              </a:ext>
            </a:extLst>
          </p:cNvPr>
          <p:cNvCxnSpPr>
            <a:cxnSpLocks/>
          </p:cNvCxnSpPr>
          <p:nvPr/>
        </p:nvCxnSpPr>
        <p:spPr>
          <a:xfrm>
            <a:off x="12571575" y="8501743"/>
            <a:ext cx="10387507" cy="0"/>
          </a:xfrm>
          <a:prstGeom prst="line">
            <a:avLst/>
          </a:prstGeom>
          <a:noFill/>
          <a:ln w="25400" cap="flat">
            <a:solidFill>
              <a:srgbClr val="16E7CF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Rak koppling 36">
            <a:extLst>
              <a:ext uri="{FF2B5EF4-FFF2-40B4-BE49-F238E27FC236}">
                <a16:creationId xmlns:a16="http://schemas.microsoft.com/office/drawing/2014/main" id="{82FACDE8-3731-EFCB-3759-BE5E2EACF734}"/>
              </a:ext>
            </a:extLst>
          </p:cNvPr>
          <p:cNvCxnSpPr>
            <a:cxnSpLocks/>
          </p:cNvCxnSpPr>
          <p:nvPr/>
        </p:nvCxnSpPr>
        <p:spPr>
          <a:xfrm>
            <a:off x="12571574" y="10330543"/>
            <a:ext cx="10387507" cy="0"/>
          </a:xfrm>
          <a:prstGeom prst="line">
            <a:avLst/>
          </a:prstGeom>
          <a:noFill/>
          <a:ln w="25400" cap="flat">
            <a:solidFill>
              <a:srgbClr val="16E7CF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8" name="Rektangel med rundade hörn 15">
            <a:extLst>
              <a:ext uri="{FF2B5EF4-FFF2-40B4-BE49-F238E27FC236}">
                <a16:creationId xmlns:a16="http://schemas.microsoft.com/office/drawing/2014/main" id="{D97786B6-6693-7F00-91E7-0D4F6AC01FEB}"/>
              </a:ext>
            </a:extLst>
          </p:cNvPr>
          <p:cNvSpPr/>
          <p:nvPr/>
        </p:nvSpPr>
        <p:spPr>
          <a:xfrm>
            <a:off x="15956112" y="6628591"/>
            <a:ext cx="7002966" cy="18404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000" tIns="0" rIns="0" bIns="0" rtlCol="0" anchor="ctr"/>
          <a:lstStyle/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</a:p>
        </p:txBody>
      </p:sp>
      <p:sp>
        <p:nvSpPr>
          <p:cNvPr id="39" name="Ellips 38">
            <a:extLst>
              <a:ext uri="{FF2B5EF4-FFF2-40B4-BE49-F238E27FC236}">
                <a16:creationId xmlns:a16="http://schemas.microsoft.com/office/drawing/2014/main" id="{4866D293-8109-7D2C-6DD6-60E9C44C55F5}"/>
              </a:ext>
            </a:extLst>
          </p:cNvPr>
          <p:cNvSpPr/>
          <p:nvPr/>
        </p:nvSpPr>
        <p:spPr>
          <a:xfrm>
            <a:off x="14835297" y="7263248"/>
            <a:ext cx="756000" cy="756000"/>
          </a:xfrm>
          <a:prstGeom prst="ellipse">
            <a:avLst/>
          </a:prstGeom>
          <a:solidFill>
            <a:srgbClr val="BFBFB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endParaRPr lang="sv-SE" sz="3200">
              <a:solidFill>
                <a:srgbClr val="FFFFFF"/>
              </a:solidFill>
              <a:latin typeface="Helvetica Neue Medium"/>
              <a:sym typeface="Helvetica Neue Medium"/>
            </a:endParaRPr>
          </a:p>
        </p:txBody>
      </p:sp>
      <p:sp>
        <p:nvSpPr>
          <p:cNvPr id="40" name="Ellips 39">
            <a:extLst>
              <a:ext uri="{FF2B5EF4-FFF2-40B4-BE49-F238E27FC236}">
                <a16:creationId xmlns:a16="http://schemas.microsoft.com/office/drawing/2014/main" id="{DA9306CB-AFFA-63CD-C13E-056FF8F71F0C}"/>
              </a:ext>
            </a:extLst>
          </p:cNvPr>
          <p:cNvSpPr/>
          <p:nvPr/>
        </p:nvSpPr>
        <p:spPr>
          <a:xfrm>
            <a:off x="14835297" y="9014498"/>
            <a:ext cx="722116" cy="722116"/>
          </a:xfrm>
          <a:prstGeom prst="ellipse">
            <a:avLst/>
          </a:prstGeom>
          <a:solidFill>
            <a:srgbClr val="BFBFB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endParaRPr lang="sv-SE" sz="3200">
              <a:solidFill>
                <a:srgbClr val="FFFFFF"/>
              </a:solidFill>
              <a:latin typeface="Helvetica Neue Medium"/>
              <a:sym typeface="Helvetica Neue Medium"/>
            </a:endParaRPr>
          </a:p>
        </p:txBody>
      </p:sp>
      <p:sp>
        <p:nvSpPr>
          <p:cNvPr id="42" name="Rektangel med rundade hörn 15">
            <a:extLst>
              <a:ext uri="{FF2B5EF4-FFF2-40B4-BE49-F238E27FC236}">
                <a16:creationId xmlns:a16="http://schemas.microsoft.com/office/drawing/2014/main" id="{5C986235-B3E5-6B28-AC0A-BE7099F29C4A}"/>
              </a:ext>
            </a:extLst>
          </p:cNvPr>
          <p:cNvSpPr/>
          <p:nvPr/>
        </p:nvSpPr>
        <p:spPr>
          <a:xfrm>
            <a:off x="15956112" y="8490051"/>
            <a:ext cx="7002966" cy="18404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000" tIns="0" rIns="0" bIns="0" rtlCol="0" anchor="ctr"/>
          <a:lstStyle/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</a:p>
        </p:txBody>
      </p:sp>
      <p:sp>
        <p:nvSpPr>
          <p:cNvPr id="43" name="Rektangel med rundade hörn 15">
            <a:extLst>
              <a:ext uri="{FF2B5EF4-FFF2-40B4-BE49-F238E27FC236}">
                <a16:creationId xmlns:a16="http://schemas.microsoft.com/office/drawing/2014/main" id="{8BFD23D0-B985-172B-5391-8CA46625AF32}"/>
              </a:ext>
            </a:extLst>
          </p:cNvPr>
          <p:cNvSpPr/>
          <p:nvPr/>
        </p:nvSpPr>
        <p:spPr>
          <a:xfrm>
            <a:off x="15942884" y="10491807"/>
            <a:ext cx="7016145" cy="18404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000" tIns="0" rIns="0" bIns="0" rtlCol="0" anchor="ctr"/>
          <a:lstStyle/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</a:p>
        </p:txBody>
      </p:sp>
      <p:sp>
        <p:nvSpPr>
          <p:cNvPr id="4" name="Rektangel med rundade hörn 15">
            <a:extLst>
              <a:ext uri="{FF2B5EF4-FFF2-40B4-BE49-F238E27FC236}">
                <a16:creationId xmlns:a16="http://schemas.microsoft.com/office/drawing/2014/main" id="{F6B5C22F-16C5-AF41-FFA1-570282A81945}"/>
              </a:ext>
            </a:extLst>
          </p:cNvPr>
          <p:cNvSpPr/>
          <p:nvPr/>
        </p:nvSpPr>
        <p:spPr>
          <a:xfrm>
            <a:off x="13504085" y="10757700"/>
            <a:ext cx="1865020" cy="90087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defTabSz="342802">
              <a:spcAft>
                <a:spcPts val="600"/>
              </a:spcAft>
              <a:tabLst>
                <a:tab pos="4030663" algn="l"/>
              </a:tabLst>
              <a:defRPr/>
            </a:pPr>
            <a:r>
              <a:rPr lang="en-US" sz="2000" b="1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7D focus and contribution</a:t>
            </a:r>
          </a:p>
        </p:txBody>
      </p:sp>
      <p:pic>
        <p:nvPicPr>
          <p:cNvPr id="225" name="Picture 224" descr="visib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51993" y="2719109"/>
            <a:ext cx="3026664" cy="753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263412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24" name="Straight Connector 3">
            <a:extLst>
              <a:ext uri="{FF2B5EF4-FFF2-40B4-BE49-F238E27FC236}">
                <a16:creationId xmlns:a16="http://schemas.microsoft.com/office/drawing/2014/main" id="{39DCF5B5-4E30-62D4-02E5-3F3A80A00BFB}"/>
              </a:ext>
            </a:extLst>
          </p:cNvPr>
          <p:cNvSpPr/>
          <p:nvPr/>
        </p:nvSpPr>
        <p:spPr>
          <a:xfrm flipH="1" flipV="1">
            <a:off x="-1" y="1840230"/>
            <a:ext cx="1235242" cy="0"/>
          </a:xfrm>
          <a:prstGeom prst="line">
            <a:avLst/>
          </a:prstGeom>
          <a:ln w="762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 algn="l" defTabSz="1828800">
              <a:defRPr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lang="en-US" dirty="0"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08611C86-A6F1-31D0-4650-C58EEE13DCEE}"/>
              </a:ext>
            </a:extLst>
          </p:cNvPr>
          <p:cNvSpPr txBox="1"/>
          <p:nvPr/>
        </p:nvSpPr>
        <p:spPr>
          <a:xfrm>
            <a:off x="1246186" y="12708070"/>
            <a:ext cx="12525569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08000" tIns="0" rIns="0" bIns="0">
            <a:spAutoFit/>
          </a:bodyPr>
          <a:lstStyle>
            <a:lvl1pPr algn="l" defTabSz="1828800">
              <a:defRPr sz="2800" b="1" cap="all" spc="100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Portfolio Company updates </a:t>
            </a:r>
          </a:p>
        </p:txBody>
      </p:sp>
      <p:sp>
        <p:nvSpPr>
          <p:cNvPr id="8" name="TextBox 1">
            <a:extLst>
              <a:ext uri="{FF2B5EF4-FFF2-40B4-BE49-F238E27FC236}">
                <a16:creationId xmlns:a16="http://schemas.microsoft.com/office/drawing/2014/main" id="{C77140E1-DB54-52E4-4B58-5F4671283218}"/>
              </a:ext>
            </a:extLst>
          </p:cNvPr>
          <p:cNvSpPr txBox="1"/>
          <p:nvPr/>
        </p:nvSpPr>
        <p:spPr>
          <a:xfrm>
            <a:off x="1678113" y="1270843"/>
            <a:ext cx="21423186" cy="1015663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l" defTabSz="1828800">
              <a:defRPr sz="7400" b="1">
                <a:solidFill>
                  <a:srgbClr val="000000"/>
                </a:solidFill>
              </a:defRPr>
            </a:pPr>
            <a:r>
              <a:rPr lang="en-GB" sz="6600" cap="all" dirty="0"/>
              <a:t>Portfolio company update, 5(5)</a:t>
            </a:r>
          </a:p>
        </p:txBody>
      </p:sp>
      <p:sp>
        <p:nvSpPr>
          <p:cNvPr id="9" name="Straight Connector 3">
            <a:extLst>
              <a:ext uri="{FF2B5EF4-FFF2-40B4-BE49-F238E27FC236}">
                <a16:creationId xmlns:a16="http://schemas.microsoft.com/office/drawing/2014/main" id="{2A408301-4197-98F8-2758-CBAC790B8B14}"/>
              </a:ext>
            </a:extLst>
          </p:cNvPr>
          <p:cNvSpPr/>
          <p:nvPr/>
        </p:nvSpPr>
        <p:spPr>
          <a:xfrm flipH="1" flipV="1">
            <a:off x="1246186" y="12520580"/>
            <a:ext cx="21855113" cy="0"/>
          </a:xfrm>
          <a:prstGeom prst="line">
            <a:avLst/>
          </a:prstGeom>
          <a:ln w="3810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 algn="l" defTabSz="1828800">
              <a:defRPr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45" name="Rektangel med rundade hörn 15">
            <a:extLst>
              <a:ext uri="{FF2B5EF4-FFF2-40B4-BE49-F238E27FC236}">
                <a16:creationId xmlns:a16="http://schemas.microsoft.com/office/drawing/2014/main" id="{955FA8B4-C7CB-9CCB-A664-8DD86F4C5AE4}"/>
              </a:ext>
            </a:extLst>
          </p:cNvPr>
          <p:cNvSpPr/>
          <p:nvPr/>
        </p:nvSpPr>
        <p:spPr>
          <a:xfrm>
            <a:off x="1678113" y="3905017"/>
            <a:ext cx="1865020" cy="571304"/>
          </a:xfrm>
          <a:prstGeom prst="roundRect">
            <a:avLst>
              <a:gd name="adj" fmla="val 18637"/>
            </a:avLst>
          </a:prstGeom>
          <a:solidFill>
            <a:schemeClr val="bg2">
              <a:lumMod val="1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2370696">
              <a:spcBef>
                <a:spcPct val="0"/>
              </a:spcBef>
              <a:spcAft>
                <a:spcPts val="1600"/>
              </a:spcAft>
            </a:pPr>
            <a:r>
              <a:rPr lang="en-GB" sz="25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Area</a:t>
            </a:r>
          </a:p>
        </p:txBody>
      </p:sp>
      <p:sp>
        <p:nvSpPr>
          <p:cNvPr id="46" name="Rektangel med rundade hörn 15">
            <a:extLst>
              <a:ext uri="{FF2B5EF4-FFF2-40B4-BE49-F238E27FC236}">
                <a16:creationId xmlns:a16="http://schemas.microsoft.com/office/drawing/2014/main" id="{6C476A63-7D93-814D-3424-21ECA8714CEE}"/>
              </a:ext>
            </a:extLst>
          </p:cNvPr>
          <p:cNvSpPr/>
          <p:nvPr/>
        </p:nvSpPr>
        <p:spPr>
          <a:xfrm>
            <a:off x="5169906" y="4616654"/>
            <a:ext cx="6895714" cy="202363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000" tIns="0" rIns="0" bIns="0" rtlCol="0" anchor="ctr"/>
          <a:lstStyle/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</a:p>
        </p:txBody>
      </p:sp>
      <p:sp>
        <p:nvSpPr>
          <p:cNvPr id="47" name="Rektangel med rundade hörn 15">
            <a:extLst>
              <a:ext uri="{FF2B5EF4-FFF2-40B4-BE49-F238E27FC236}">
                <a16:creationId xmlns:a16="http://schemas.microsoft.com/office/drawing/2014/main" id="{CE7C769E-B181-5033-75B6-77441DAE0167}"/>
              </a:ext>
            </a:extLst>
          </p:cNvPr>
          <p:cNvSpPr/>
          <p:nvPr/>
        </p:nvSpPr>
        <p:spPr>
          <a:xfrm>
            <a:off x="5062654" y="3905017"/>
            <a:ext cx="7002966" cy="571304"/>
          </a:xfrm>
          <a:prstGeom prst="roundRect">
            <a:avLst>
              <a:gd name="adj" fmla="val 18637"/>
            </a:avLst>
          </a:prstGeom>
          <a:solidFill>
            <a:schemeClr val="bg2">
              <a:lumMod val="1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2370696">
              <a:spcBef>
                <a:spcPct val="0"/>
              </a:spcBef>
              <a:spcAft>
                <a:spcPts val="1600"/>
              </a:spcAft>
            </a:pPr>
            <a:r>
              <a:rPr lang="en-GB" sz="25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Update</a:t>
            </a:r>
          </a:p>
        </p:txBody>
      </p:sp>
      <p:sp>
        <p:nvSpPr>
          <p:cNvPr id="48" name="Rektangel med rundade hörn 15">
            <a:extLst>
              <a:ext uri="{FF2B5EF4-FFF2-40B4-BE49-F238E27FC236}">
                <a16:creationId xmlns:a16="http://schemas.microsoft.com/office/drawing/2014/main" id="{C8101388-5DFB-E4A5-3DFE-F54EA715DDAF}"/>
              </a:ext>
            </a:extLst>
          </p:cNvPr>
          <p:cNvSpPr/>
          <p:nvPr/>
        </p:nvSpPr>
        <p:spPr>
          <a:xfrm>
            <a:off x="3657600" y="3905017"/>
            <a:ext cx="1290587" cy="571304"/>
          </a:xfrm>
          <a:prstGeom prst="roundRect">
            <a:avLst>
              <a:gd name="adj" fmla="val 18637"/>
            </a:avLst>
          </a:prstGeom>
          <a:solidFill>
            <a:schemeClr val="bg2">
              <a:lumMod val="1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2370696">
              <a:spcBef>
                <a:spcPct val="0"/>
              </a:spcBef>
              <a:spcAft>
                <a:spcPts val="1600"/>
              </a:spcAft>
            </a:pPr>
            <a:r>
              <a:rPr lang="en-GB" sz="25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Status</a:t>
            </a:r>
          </a:p>
        </p:txBody>
      </p:sp>
      <p:sp>
        <p:nvSpPr>
          <p:cNvPr id="50" name="Rektangel med rundade hörn 15">
            <a:extLst>
              <a:ext uri="{FF2B5EF4-FFF2-40B4-BE49-F238E27FC236}">
                <a16:creationId xmlns:a16="http://schemas.microsoft.com/office/drawing/2014/main" id="{475F3CC8-7E0A-E7CB-0C47-8B787E3B28F7}"/>
              </a:ext>
            </a:extLst>
          </p:cNvPr>
          <p:cNvSpPr/>
          <p:nvPr/>
        </p:nvSpPr>
        <p:spPr>
          <a:xfrm>
            <a:off x="1679575" y="4616252"/>
            <a:ext cx="1863557" cy="2023629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defTabSz="342802">
              <a:spcAft>
                <a:spcPts val="600"/>
              </a:spcAft>
              <a:tabLst>
                <a:tab pos="4030663" algn="l"/>
              </a:tabLst>
              <a:defRPr/>
            </a:pPr>
            <a:r>
              <a:rPr lang="en-US" sz="20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Operational update</a:t>
            </a:r>
          </a:p>
        </p:txBody>
      </p:sp>
      <p:sp>
        <p:nvSpPr>
          <p:cNvPr id="51" name="Rektangel med rundade hörn 15">
            <a:extLst>
              <a:ext uri="{FF2B5EF4-FFF2-40B4-BE49-F238E27FC236}">
                <a16:creationId xmlns:a16="http://schemas.microsoft.com/office/drawing/2014/main" id="{E4BB378A-728E-5F6A-F6AA-1F944D35A0B4}"/>
              </a:ext>
            </a:extLst>
          </p:cNvPr>
          <p:cNvSpPr/>
          <p:nvPr/>
        </p:nvSpPr>
        <p:spPr>
          <a:xfrm>
            <a:off x="1679575" y="6861487"/>
            <a:ext cx="1863557" cy="1640255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defTabSz="342802">
              <a:spcAft>
                <a:spcPts val="600"/>
              </a:spcAft>
              <a:tabLst>
                <a:tab pos="4030663" algn="l"/>
              </a:tabLst>
              <a:defRPr/>
            </a:pPr>
            <a:r>
              <a:rPr lang="en-US" sz="20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Financial performance</a:t>
            </a:r>
          </a:p>
        </p:txBody>
      </p:sp>
      <p:sp>
        <p:nvSpPr>
          <p:cNvPr id="52" name="Rektangel med rundade hörn 15">
            <a:extLst>
              <a:ext uri="{FF2B5EF4-FFF2-40B4-BE49-F238E27FC236}">
                <a16:creationId xmlns:a16="http://schemas.microsoft.com/office/drawing/2014/main" id="{E734F2CC-A7DF-29C6-B579-B2B0F0036C4A}"/>
              </a:ext>
            </a:extLst>
          </p:cNvPr>
          <p:cNvSpPr/>
          <p:nvPr/>
        </p:nvSpPr>
        <p:spPr>
          <a:xfrm>
            <a:off x="1679575" y="8928901"/>
            <a:ext cx="1863557" cy="90087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defTabSz="342802">
              <a:spcAft>
                <a:spcPts val="600"/>
              </a:spcAft>
              <a:tabLst>
                <a:tab pos="4030663" algn="l"/>
              </a:tabLst>
              <a:defRPr/>
            </a:pPr>
            <a:r>
              <a:rPr lang="en-US" sz="20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Three-year value creation</a:t>
            </a:r>
          </a:p>
        </p:txBody>
      </p:sp>
      <p:sp>
        <p:nvSpPr>
          <p:cNvPr id="53" name="Rektangel med rundade hörn 15">
            <a:extLst>
              <a:ext uri="{FF2B5EF4-FFF2-40B4-BE49-F238E27FC236}">
                <a16:creationId xmlns:a16="http://schemas.microsoft.com/office/drawing/2014/main" id="{A4AE1C7D-84CD-374A-475A-E56BE0DAA92D}"/>
              </a:ext>
            </a:extLst>
          </p:cNvPr>
          <p:cNvSpPr/>
          <p:nvPr/>
        </p:nvSpPr>
        <p:spPr>
          <a:xfrm>
            <a:off x="2512473" y="10757700"/>
            <a:ext cx="1865020" cy="90087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defTabSz="342802">
              <a:spcAft>
                <a:spcPts val="600"/>
              </a:spcAft>
              <a:tabLst>
                <a:tab pos="4030663" algn="l"/>
              </a:tabLst>
              <a:defRPr/>
            </a:pPr>
            <a:r>
              <a:rPr lang="en-US" sz="2000" b="1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7D focus and contribution</a:t>
            </a:r>
          </a:p>
        </p:txBody>
      </p:sp>
      <p:cxnSp>
        <p:nvCxnSpPr>
          <p:cNvPr id="54" name="Rak koppling 53">
            <a:extLst>
              <a:ext uri="{FF2B5EF4-FFF2-40B4-BE49-F238E27FC236}">
                <a16:creationId xmlns:a16="http://schemas.microsoft.com/office/drawing/2014/main" id="{25972EB0-37DD-6101-6CC1-7C1F4BAA861B}"/>
              </a:ext>
            </a:extLst>
          </p:cNvPr>
          <p:cNvCxnSpPr>
            <a:cxnSpLocks/>
          </p:cNvCxnSpPr>
          <p:nvPr/>
        </p:nvCxnSpPr>
        <p:spPr>
          <a:xfrm>
            <a:off x="1678113" y="6640286"/>
            <a:ext cx="10387507" cy="0"/>
          </a:xfrm>
          <a:prstGeom prst="line">
            <a:avLst/>
          </a:prstGeom>
          <a:noFill/>
          <a:ln w="25400" cap="flat">
            <a:solidFill>
              <a:srgbClr val="16E7CF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5" name="Rak koppling 54">
            <a:extLst>
              <a:ext uri="{FF2B5EF4-FFF2-40B4-BE49-F238E27FC236}">
                <a16:creationId xmlns:a16="http://schemas.microsoft.com/office/drawing/2014/main" id="{8548BC49-DAC0-9883-5FEA-DE02B6283424}"/>
              </a:ext>
            </a:extLst>
          </p:cNvPr>
          <p:cNvCxnSpPr>
            <a:cxnSpLocks/>
          </p:cNvCxnSpPr>
          <p:nvPr/>
        </p:nvCxnSpPr>
        <p:spPr>
          <a:xfrm>
            <a:off x="1678113" y="8501743"/>
            <a:ext cx="10387507" cy="0"/>
          </a:xfrm>
          <a:prstGeom prst="line">
            <a:avLst/>
          </a:prstGeom>
          <a:noFill/>
          <a:ln w="25400" cap="flat">
            <a:solidFill>
              <a:srgbClr val="16E7CF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6" name="Rak koppling 55">
            <a:extLst>
              <a:ext uri="{FF2B5EF4-FFF2-40B4-BE49-F238E27FC236}">
                <a16:creationId xmlns:a16="http://schemas.microsoft.com/office/drawing/2014/main" id="{24B8320A-DC88-E3D4-7F72-DECCF89B2667}"/>
              </a:ext>
            </a:extLst>
          </p:cNvPr>
          <p:cNvCxnSpPr>
            <a:cxnSpLocks/>
          </p:cNvCxnSpPr>
          <p:nvPr/>
        </p:nvCxnSpPr>
        <p:spPr>
          <a:xfrm>
            <a:off x="1678112" y="10330543"/>
            <a:ext cx="10387507" cy="0"/>
          </a:xfrm>
          <a:prstGeom prst="line">
            <a:avLst/>
          </a:prstGeom>
          <a:noFill/>
          <a:ln w="25400" cap="flat">
            <a:solidFill>
              <a:srgbClr val="16E7CF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7" name="Rektangel med rundade hörn 15">
            <a:extLst>
              <a:ext uri="{FF2B5EF4-FFF2-40B4-BE49-F238E27FC236}">
                <a16:creationId xmlns:a16="http://schemas.microsoft.com/office/drawing/2014/main" id="{20BCB5E5-A915-7037-00AF-DB8A20CC7774}"/>
              </a:ext>
            </a:extLst>
          </p:cNvPr>
          <p:cNvSpPr/>
          <p:nvPr/>
        </p:nvSpPr>
        <p:spPr>
          <a:xfrm>
            <a:off x="5169906" y="6628591"/>
            <a:ext cx="6895714" cy="18404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000" tIns="0" rIns="0" bIns="0" rtlCol="0" anchor="ctr"/>
          <a:lstStyle/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</a:p>
        </p:txBody>
      </p:sp>
      <p:sp>
        <p:nvSpPr>
          <p:cNvPr id="58" name="Ellips 57">
            <a:extLst>
              <a:ext uri="{FF2B5EF4-FFF2-40B4-BE49-F238E27FC236}">
                <a16:creationId xmlns:a16="http://schemas.microsoft.com/office/drawing/2014/main" id="{29056462-B41A-01BB-F04E-5571AB9FC266}"/>
              </a:ext>
            </a:extLst>
          </p:cNvPr>
          <p:cNvSpPr/>
          <p:nvPr/>
        </p:nvSpPr>
        <p:spPr>
          <a:xfrm>
            <a:off x="3941835" y="7320556"/>
            <a:ext cx="722116" cy="722116"/>
          </a:xfrm>
          <a:prstGeom prst="ellipse">
            <a:avLst/>
          </a:prstGeom>
          <a:solidFill>
            <a:srgbClr val="BFBFB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sv-SE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9" name="Ellips 58">
            <a:extLst>
              <a:ext uri="{FF2B5EF4-FFF2-40B4-BE49-F238E27FC236}">
                <a16:creationId xmlns:a16="http://schemas.microsoft.com/office/drawing/2014/main" id="{C32B408C-0B2E-9817-FC64-B0C008D6A608}"/>
              </a:ext>
            </a:extLst>
          </p:cNvPr>
          <p:cNvSpPr/>
          <p:nvPr/>
        </p:nvSpPr>
        <p:spPr>
          <a:xfrm>
            <a:off x="3941835" y="9014498"/>
            <a:ext cx="722116" cy="722116"/>
          </a:xfrm>
          <a:prstGeom prst="ellipse">
            <a:avLst/>
          </a:prstGeom>
          <a:solidFill>
            <a:srgbClr val="BFBFB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sv-SE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1" name="Rektangel med rundade hörn 15">
            <a:extLst>
              <a:ext uri="{FF2B5EF4-FFF2-40B4-BE49-F238E27FC236}">
                <a16:creationId xmlns:a16="http://schemas.microsoft.com/office/drawing/2014/main" id="{4B900A02-BF44-04DB-A80F-78B1F90DD186}"/>
              </a:ext>
            </a:extLst>
          </p:cNvPr>
          <p:cNvSpPr/>
          <p:nvPr/>
        </p:nvSpPr>
        <p:spPr>
          <a:xfrm>
            <a:off x="5195861" y="8490051"/>
            <a:ext cx="6895714" cy="18404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000" tIns="0" rIns="0" bIns="0" rtlCol="0" anchor="ctr"/>
          <a:lstStyle/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</a:p>
        </p:txBody>
      </p:sp>
      <p:sp>
        <p:nvSpPr>
          <p:cNvPr id="62" name="Rektangel med rundade hörn 15">
            <a:extLst>
              <a:ext uri="{FF2B5EF4-FFF2-40B4-BE49-F238E27FC236}">
                <a16:creationId xmlns:a16="http://schemas.microsoft.com/office/drawing/2014/main" id="{041AA8DC-7A16-66FE-EB78-069C76C2C50C}"/>
              </a:ext>
            </a:extLst>
          </p:cNvPr>
          <p:cNvSpPr/>
          <p:nvPr/>
        </p:nvSpPr>
        <p:spPr>
          <a:xfrm>
            <a:off x="5195857" y="10483608"/>
            <a:ext cx="6895717" cy="18404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000" tIns="0" rIns="0" bIns="0" rtlCol="0" anchor="ctr"/>
          <a:lstStyle/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</a:p>
        </p:txBody>
      </p:sp>
      <p:cxnSp>
        <p:nvCxnSpPr>
          <p:cNvPr id="209" name="Rak koppling 208">
            <a:extLst>
              <a:ext uri="{FF2B5EF4-FFF2-40B4-BE49-F238E27FC236}">
                <a16:creationId xmlns:a16="http://schemas.microsoft.com/office/drawing/2014/main" id="{EC14BFAE-76E7-09B8-985B-DED783A3DE01}"/>
              </a:ext>
            </a:extLst>
          </p:cNvPr>
          <p:cNvCxnSpPr>
            <a:cxnSpLocks/>
          </p:cNvCxnSpPr>
          <p:nvPr/>
        </p:nvCxnSpPr>
        <p:spPr>
          <a:xfrm>
            <a:off x="12300857" y="2514600"/>
            <a:ext cx="0" cy="9840279"/>
          </a:xfrm>
          <a:prstGeom prst="line">
            <a:avLst/>
          </a:prstGeom>
          <a:noFill/>
          <a:ln w="762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6" name="Rektangel med rundade hörn 15">
            <a:extLst>
              <a:ext uri="{FF2B5EF4-FFF2-40B4-BE49-F238E27FC236}">
                <a16:creationId xmlns:a16="http://schemas.microsoft.com/office/drawing/2014/main" id="{37D9F287-20AE-B1B2-C257-A09DA930E508}"/>
              </a:ext>
            </a:extLst>
          </p:cNvPr>
          <p:cNvSpPr/>
          <p:nvPr/>
        </p:nvSpPr>
        <p:spPr>
          <a:xfrm>
            <a:off x="12571575" y="3905017"/>
            <a:ext cx="1865020" cy="571304"/>
          </a:xfrm>
          <a:prstGeom prst="roundRect">
            <a:avLst>
              <a:gd name="adj" fmla="val 18637"/>
            </a:avLst>
          </a:prstGeom>
          <a:solidFill>
            <a:schemeClr val="bg2">
              <a:lumMod val="1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2370696">
              <a:spcBef>
                <a:spcPct val="0"/>
              </a:spcBef>
              <a:spcAft>
                <a:spcPts val="1600"/>
              </a:spcAft>
            </a:pPr>
            <a:r>
              <a:rPr lang="en-GB" sz="25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Area</a:t>
            </a:r>
          </a:p>
        </p:txBody>
      </p:sp>
      <p:sp>
        <p:nvSpPr>
          <p:cNvPr id="27" name="Rektangel med rundade hörn 15">
            <a:extLst>
              <a:ext uri="{FF2B5EF4-FFF2-40B4-BE49-F238E27FC236}">
                <a16:creationId xmlns:a16="http://schemas.microsoft.com/office/drawing/2014/main" id="{07F8D3CF-93EE-CB41-EF7B-BC395F197584}"/>
              </a:ext>
            </a:extLst>
          </p:cNvPr>
          <p:cNvSpPr/>
          <p:nvPr/>
        </p:nvSpPr>
        <p:spPr>
          <a:xfrm>
            <a:off x="15956116" y="3905017"/>
            <a:ext cx="7002966" cy="571304"/>
          </a:xfrm>
          <a:prstGeom prst="roundRect">
            <a:avLst>
              <a:gd name="adj" fmla="val 18637"/>
            </a:avLst>
          </a:prstGeom>
          <a:solidFill>
            <a:schemeClr val="bg2">
              <a:lumMod val="1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2370696">
              <a:spcBef>
                <a:spcPct val="0"/>
              </a:spcBef>
              <a:spcAft>
                <a:spcPts val="1600"/>
              </a:spcAft>
            </a:pPr>
            <a:r>
              <a:rPr lang="en-GB" sz="25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Update</a:t>
            </a:r>
          </a:p>
        </p:txBody>
      </p:sp>
      <p:sp>
        <p:nvSpPr>
          <p:cNvPr id="28" name="Rektangel med rundade hörn 15">
            <a:extLst>
              <a:ext uri="{FF2B5EF4-FFF2-40B4-BE49-F238E27FC236}">
                <a16:creationId xmlns:a16="http://schemas.microsoft.com/office/drawing/2014/main" id="{E667EEF5-676E-51FB-8876-71C9D5D84D45}"/>
              </a:ext>
            </a:extLst>
          </p:cNvPr>
          <p:cNvSpPr/>
          <p:nvPr/>
        </p:nvSpPr>
        <p:spPr>
          <a:xfrm>
            <a:off x="14551062" y="3905017"/>
            <a:ext cx="1290587" cy="571304"/>
          </a:xfrm>
          <a:prstGeom prst="roundRect">
            <a:avLst>
              <a:gd name="adj" fmla="val 18637"/>
            </a:avLst>
          </a:prstGeom>
          <a:solidFill>
            <a:schemeClr val="bg2">
              <a:lumMod val="1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defTabSz="2370696">
              <a:spcBef>
                <a:spcPct val="0"/>
              </a:spcBef>
              <a:spcAft>
                <a:spcPts val="1600"/>
              </a:spcAft>
            </a:pPr>
            <a:r>
              <a:rPr lang="en-GB" sz="25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Status</a:t>
            </a:r>
          </a:p>
        </p:txBody>
      </p:sp>
      <p:sp>
        <p:nvSpPr>
          <p:cNvPr id="29" name="Rektangel med rundade hörn 15">
            <a:extLst>
              <a:ext uri="{FF2B5EF4-FFF2-40B4-BE49-F238E27FC236}">
                <a16:creationId xmlns:a16="http://schemas.microsoft.com/office/drawing/2014/main" id="{19AAC074-ACCF-78FC-174F-4C8206BABA86}"/>
              </a:ext>
            </a:extLst>
          </p:cNvPr>
          <p:cNvSpPr/>
          <p:nvPr/>
        </p:nvSpPr>
        <p:spPr>
          <a:xfrm>
            <a:off x="15956112" y="4561790"/>
            <a:ext cx="7002966" cy="202363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000" tIns="0" rIns="0" bIns="0" rtlCol="0" anchor="ctr"/>
          <a:lstStyle/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</a:p>
        </p:txBody>
      </p:sp>
      <p:sp>
        <p:nvSpPr>
          <p:cNvPr id="30" name="Ellips 29">
            <a:extLst>
              <a:ext uri="{FF2B5EF4-FFF2-40B4-BE49-F238E27FC236}">
                <a16:creationId xmlns:a16="http://schemas.microsoft.com/office/drawing/2014/main" id="{729AF365-1FBD-29D2-2C1A-B0BCFFE58297}"/>
              </a:ext>
            </a:extLst>
          </p:cNvPr>
          <p:cNvSpPr/>
          <p:nvPr/>
        </p:nvSpPr>
        <p:spPr>
          <a:xfrm>
            <a:off x="14835297" y="5125594"/>
            <a:ext cx="722116" cy="756000"/>
          </a:xfrm>
          <a:prstGeom prst="ellipse">
            <a:avLst/>
          </a:prstGeom>
          <a:solidFill>
            <a:srgbClr val="BFBFB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endParaRPr lang="sv-SE" sz="3200">
              <a:solidFill>
                <a:srgbClr val="FFFFFF"/>
              </a:solidFill>
              <a:latin typeface="Helvetica Neue Medium"/>
              <a:sym typeface="Helvetica Neue Medium"/>
            </a:endParaRPr>
          </a:p>
        </p:txBody>
      </p:sp>
      <p:sp>
        <p:nvSpPr>
          <p:cNvPr id="31" name="Rektangel med rundade hörn 15">
            <a:extLst>
              <a:ext uri="{FF2B5EF4-FFF2-40B4-BE49-F238E27FC236}">
                <a16:creationId xmlns:a16="http://schemas.microsoft.com/office/drawing/2014/main" id="{87E78797-5A9D-D5FD-9D5C-0F45509A10C4}"/>
              </a:ext>
            </a:extLst>
          </p:cNvPr>
          <p:cNvSpPr/>
          <p:nvPr/>
        </p:nvSpPr>
        <p:spPr>
          <a:xfrm>
            <a:off x="12573037" y="4616252"/>
            <a:ext cx="1863557" cy="2023629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defTabSz="342802">
              <a:spcAft>
                <a:spcPts val="600"/>
              </a:spcAft>
              <a:tabLst>
                <a:tab pos="4030663" algn="l"/>
              </a:tabLst>
              <a:defRPr/>
            </a:pPr>
            <a:r>
              <a:rPr lang="en-US" sz="20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Operational update</a:t>
            </a:r>
          </a:p>
        </p:txBody>
      </p:sp>
      <p:sp>
        <p:nvSpPr>
          <p:cNvPr id="32" name="Rektangel med rundade hörn 15">
            <a:extLst>
              <a:ext uri="{FF2B5EF4-FFF2-40B4-BE49-F238E27FC236}">
                <a16:creationId xmlns:a16="http://schemas.microsoft.com/office/drawing/2014/main" id="{10A1ACF6-45CD-8464-EF2C-C6CB5D54B539}"/>
              </a:ext>
            </a:extLst>
          </p:cNvPr>
          <p:cNvSpPr/>
          <p:nvPr/>
        </p:nvSpPr>
        <p:spPr>
          <a:xfrm>
            <a:off x="12573037" y="6861487"/>
            <a:ext cx="1863557" cy="1640255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defTabSz="342802">
              <a:spcAft>
                <a:spcPts val="600"/>
              </a:spcAft>
              <a:tabLst>
                <a:tab pos="4030663" algn="l"/>
              </a:tabLst>
              <a:defRPr/>
            </a:pPr>
            <a:r>
              <a:rPr lang="en-US" sz="20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Financial performance</a:t>
            </a:r>
          </a:p>
        </p:txBody>
      </p:sp>
      <p:sp>
        <p:nvSpPr>
          <p:cNvPr id="33" name="Rektangel med rundade hörn 15">
            <a:extLst>
              <a:ext uri="{FF2B5EF4-FFF2-40B4-BE49-F238E27FC236}">
                <a16:creationId xmlns:a16="http://schemas.microsoft.com/office/drawing/2014/main" id="{C8FB086F-5422-40BC-3568-505BBF18F051}"/>
              </a:ext>
            </a:extLst>
          </p:cNvPr>
          <p:cNvSpPr/>
          <p:nvPr/>
        </p:nvSpPr>
        <p:spPr>
          <a:xfrm>
            <a:off x="12573037" y="8928901"/>
            <a:ext cx="1863557" cy="90087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defTabSz="342802">
              <a:spcAft>
                <a:spcPts val="600"/>
              </a:spcAft>
              <a:tabLst>
                <a:tab pos="4030663" algn="l"/>
              </a:tabLst>
              <a:defRPr/>
            </a:pPr>
            <a:r>
              <a:rPr lang="en-US" sz="2000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Three-year value creation</a:t>
            </a:r>
          </a:p>
        </p:txBody>
      </p:sp>
      <p:cxnSp>
        <p:nvCxnSpPr>
          <p:cNvPr id="35" name="Rak koppling 34">
            <a:extLst>
              <a:ext uri="{FF2B5EF4-FFF2-40B4-BE49-F238E27FC236}">
                <a16:creationId xmlns:a16="http://schemas.microsoft.com/office/drawing/2014/main" id="{457293E8-87F3-210A-111D-14C042F5CF7B}"/>
              </a:ext>
            </a:extLst>
          </p:cNvPr>
          <p:cNvCxnSpPr>
            <a:cxnSpLocks/>
          </p:cNvCxnSpPr>
          <p:nvPr/>
        </p:nvCxnSpPr>
        <p:spPr>
          <a:xfrm>
            <a:off x="12571575" y="6603710"/>
            <a:ext cx="10387507" cy="0"/>
          </a:xfrm>
          <a:prstGeom prst="line">
            <a:avLst/>
          </a:prstGeom>
          <a:noFill/>
          <a:ln w="25400" cap="flat">
            <a:solidFill>
              <a:srgbClr val="16E7CF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Rak koppling 35">
            <a:extLst>
              <a:ext uri="{FF2B5EF4-FFF2-40B4-BE49-F238E27FC236}">
                <a16:creationId xmlns:a16="http://schemas.microsoft.com/office/drawing/2014/main" id="{1B90B650-9047-5EDB-9730-50EBA8BA914E}"/>
              </a:ext>
            </a:extLst>
          </p:cNvPr>
          <p:cNvCxnSpPr>
            <a:cxnSpLocks/>
          </p:cNvCxnSpPr>
          <p:nvPr/>
        </p:nvCxnSpPr>
        <p:spPr>
          <a:xfrm>
            <a:off x="12571575" y="8501743"/>
            <a:ext cx="10387507" cy="0"/>
          </a:xfrm>
          <a:prstGeom prst="line">
            <a:avLst/>
          </a:prstGeom>
          <a:noFill/>
          <a:ln w="25400" cap="flat">
            <a:solidFill>
              <a:srgbClr val="16E7CF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Rak koppling 36">
            <a:extLst>
              <a:ext uri="{FF2B5EF4-FFF2-40B4-BE49-F238E27FC236}">
                <a16:creationId xmlns:a16="http://schemas.microsoft.com/office/drawing/2014/main" id="{82FACDE8-3731-EFCB-3759-BE5E2EACF734}"/>
              </a:ext>
            </a:extLst>
          </p:cNvPr>
          <p:cNvCxnSpPr>
            <a:cxnSpLocks/>
          </p:cNvCxnSpPr>
          <p:nvPr/>
        </p:nvCxnSpPr>
        <p:spPr>
          <a:xfrm>
            <a:off x="12571574" y="10330543"/>
            <a:ext cx="10387507" cy="0"/>
          </a:xfrm>
          <a:prstGeom prst="line">
            <a:avLst/>
          </a:prstGeom>
          <a:noFill/>
          <a:ln w="25400" cap="flat">
            <a:solidFill>
              <a:srgbClr val="16E7CF"/>
            </a:solidFill>
            <a:prstDash val="sys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8" name="Rektangel med rundade hörn 15">
            <a:extLst>
              <a:ext uri="{FF2B5EF4-FFF2-40B4-BE49-F238E27FC236}">
                <a16:creationId xmlns:a16="http://schemas.microsoft.com/office/drawing/2014/main" id="{D97786B6-6693-7F00-91E7-0D4F6AC01FEB}"/>
              </a:ext>
            </a:extLst>
          </p:cNvPr>
          <p:cNvSpPr/>
          <p:nvPr/>
        </p:nvSpPr>
        <p:spPr>
          <a:xfrm>
            <a:off x="15956112" y="6628591"/>
            <a:ext cx="7002966" cy="18404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000" tIns="0" rIns="0" bIns="0" rtlCol="0" anchor="ctr"/>
          <a:lstStyle/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</a:p>
        </p:txBody>
      </p:sp>
      <p:sp>
        <p:nvSpPr>
          <p:cNvPr id="39" name="Ellips 38">
            <a:extLst>
              <a:ext uri="{FF2B5EF4-FFF2-40B4-BE49-F238E27FC236}">
                <a16:creationId xmlns:a16="http://schemas.microsoft.com/office/drawing/2014/main" id="{4866D293-8109-7D2C-6DD6-60E9C44C55F5}"/>
              </a:ext>
            </a:extLst>
          </p:cNvPr>
          <p:cNvSpPr/>
          <p:nvPr/>
        </p:nvSpPr>
        <p:spPr>
          <a:xfrm>
            <a:off x="14835297" y="7263248"/>
            <a:ext cx="756000" cy="756000"/>
          </a:xfrm>
          <a:prstGeom prst="ellipse">
            <a:avLst/>
          </a:prstGeom>
          <a:solidFill>
            <a:srgbClr val="BFBFB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endParaRPr lang="sv-SE" sz="3200">
              <a:solidFill>
                <a:srgbClr val="FFFFFF"/>
              </a:solidFill>
              <a:latin typeface="Helvetica Neue Medium"/>
              <a:sym typeface="Helvetica Neue Medium"/>
            </a:endParaRPr>
          </a:p>
        </p:txBody>
      </p:sp>
      <p:sp>
        <p:nvSpPr>
          <p:cNvPr id="40" name="Ellips 39">
            <a:extLst>
              <a:ext uri="{FF2B5EF4-FFF2-40B4-BE49-F238E27FC236}">
                <a16:creationId xmlns:a16="http://schemas.microsoft.com/office/drawing/2014/main" id="{DA9306CB-AFFA-63CD-C13E-056FF8F71F0C}"/>
              </a:ext>
            </a:extLst>
          </p:cNvPr>
          <p:cNvSpPr/>
          <p:nvPr/>
        </p:nvSpPr>
        <p:spPr>
          <a:xfrm>
            <a:off x="14835297" y="9014498"/>
            <a:ext cx="722116" cy="722116"/>
          </a:xfrm>
          <a:prstGeom prst="ellipse">
            <a:avLst/>
          </a:prstGeom>
          <a:solidFill>
            <a:srgbClr val="BFBFB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endParaRPr lang="sv-SE" sz="3200">
              <a:solidFill>
                <a:srgbClr val="FFFFFF"/>
              </a:solidFill>
              <a:latin typeface="Helvetica Neue Medium"/>
              <a:sym typeface="Helvetica Neue Medium"/>
            </a:endParaRPr>
          </a:p>
        </p:txBody>
      </p:sp>
      <p:sp>
        <p:nvSpPr>
          <p:cNvPr id="42" name="Rektangel med rundade hörn 15">
            <a:extLst>
              <a:ext uri="{FF2B5EF4-FFF2-40B4-BE49-F238E27FC236}">
                <a16:creationId xmlns:a16="http://schemas.microsoft.com/office/drawing/2014/main" id="{5C986235-B3E5-6B28-AC0A-BE7099F29C4A}"/>
              </a:ext>
            </a:extLst>
          </p:cNvPr>
          <p:cNvSpPr/>
          <p:nvPr/>
        </p:nvSpPr>
        <p:spPr>
          <a:xfrm>
            <a:off x="15956112" y="8490051"/>
            <a:ext cx="7002966" cy="18404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000" tIns="0" rIns="0" bIns="0" rtlCol="0" anchor="ctr"/>
          <a:lstStyle/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</a:p>
        </p:txBody>
      </p:sp>
      <p:sp>
        <p:nvSpPr>
          <p:cNvPr id="43" name="Rektangel med rundade hörn 15">
            <a:extLst>
              <a:ext uri="{FF2B5EF4-FFF2-40B4-BE49-F238E27FC236}">
                <a16:creationId xmlns:a16="http://schemas.microsoft.com/office/drawing/2014/main" id="{8BFD23D0-B985-172B-5391-8CA46625AF32}"/>
              </a:ext>
            </a:extLst>
          </p:cNvPr>
          <p:cNvSpPr/>
          <p:nvPr/>
        </p:nvSpPr>
        <p:spPr>
          <a:xfrm>
            <a:off x="15942884" y="10491807"/>
            <a:ext cx="7016145" cy="18404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000" tIns="0" rIns="0" bIns="0" rtlCol="0" anchor="ctr"/>
          <a:lstStyle/>
          <a:p>
            <a:pPr marL="174625" lvl="0" indent="-174625" algn="l" defTabSz="342802"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030663" algn="l"/>
              </a:tabLst>
              <a:defRPr/>
            </a:pPr>
          </a:p>
        </p:txBody>
      </p:sp>
      <p:sp>
        <p:nvSpPr>
          <p:cNvPr id="2" name="Ellips 1">
            <a:extLst>
              <a:ext uri="{FF2B5EF4-FFF2-40B4-BE49-F238E27FC236}">
                <a16:creationId xmlns:a16="http://schemas.microsoft.com/office/drawing/2014/main" id="{F81F41AF-7A40-7F03-3520-2DE85171CA4B}"/>
              </a:ext>
            </a:extLst>
          </p:cNvPr>
          <p:cNvSpPr/>
          <p:nvPr/>
        </p:nvSpPr>
        <p:spPr>
          <a:xfrm>
            <a:off x="3941835" y="5267412"/>
            <a:ext cx="722116" cy="722116"/>
          </a:xfrm>
          <a:prstGeom prst="ellipse">
            <a:avLst/>
          </a:prstGeom>
          <a:solidFill>
            <a:srgbClr val="BFBFB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sv-SE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ektangel med rundade hörn 15">
            <a:extLst>
              <a:ext uri="{FF2B5EF4-FFF2-40B4-BE49-F238E27FC236}">
                <a16:creationId xmlns:a16="http://schemas.microsoft.com/office/drawing/2014/main" id="{F6B5C22F-16C5-AF41-FFA1-570282A81945}"/>
              </a:ext>
            </a:extLst>
          </p:cNvPr>
          <p:cNvSpPr/>
          <p:nvPr/>
        </p:nvSpPr>
        <p:spPr>
          <a:xfrm>
            <a:off x="13504085" y="10757700"/>
            <a:ext cx="1865020" cy="90087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defTabSz="342802">
              <a:spcAft>
                <a:spcPts val="600"/>
              </a:spcAft>
              <a:tabLst>
                <a:tab pos="4030663" algn="l"/>
              </a:tabLst>
              <a:defRPr/>
            </a:pPr>
            <a:r>
              <a:rPr lang="en-US" sz="2000" b="1" dirty="0">
                <a:solidFill>
                  <a:srgbClr val="293447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7D focus and contribution</a:t>
            </a:r>
          </a:p>
        </p:txBody>
      </p:sp>
      <p:pic>
        <p:nvPicPr>
          <p:cNvPr id="227" name="Picture 226" descr="devan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076" y="2487830"/>
            <a:ext cx="1261872" cy="1261872"/>
          </a:xfrm>
          <a:prstGeom prst="rect">
            <a:avLst/>
          </a:prstGeom>
        </p:spPr>
      </p:pic>
      <p:pic>
        <p:nvPicPr>
          <p:cNvPr id="228" name="Picture 227" descr="quamcom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2208" y="2464825"/>
            <a:ext cx="2006234" cy="1261872"/>
          </a:xfrm>
          <a:prstGeom prst="rect">
            <a:avLst/>
          </a:prstGeom>
        </p:spPr>
      </p:pic>
      <p:pic>
        <p:nvPicPr>
          <p:cNvPr id="229" name="Picture 228" descr="image.tif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93767" y="12693280"/>
            <a:ext cx="3107532" cy="4910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web-hero-horizontal-1080p-comp.mp4" descr="web-hero-horizontal-1080p-comp.mp4"/>
          <p:cNvPicPr>
            <a:picLocks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4775200" y="0"/>
            <a:ext cx="24384000" cy="13716001"/>
          </a:xfrm>
          <a:prstGeom prst="rect">
            <a:avLst/>
          </a:prstGeom>
          <a:ln w="12700">
            <a:miter lim="400000"/>
          </a:ln>
        </p:spPr>
      </p:pic>
      <p:sp>
        <p:nvSpPr>
          <p:cNvPr id="349" name="Rektangel"/>
          <p:cNvSpPr/>
          <p:nvPr/>
        </p:nvSpPr>
        <p:spPr>
          <a:xfrm>
            <a:off x="-2616314" y="-32280"/>
            <a:ext cx="24451073" cy="13748280"/>
          </a:xfrm>
          <a:prstGeom prst="rect">
            <a:avLst/>
          </a:prstGeom>
          <a:solidFill>
            <a:srgbClr val="000000">
              <a:alpha val="3897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350" name="Rectangle 21"/>
          <p:cNvSpPr/>
          <p:nvPr/>
        </p:nvSpPr>
        <p:spPr>
          <a:xfrm>
            <a:off x="14774778" y="0"/>
            <a:ext cx="9609222" cy="13716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351" name="TextBox 5"/>
          <p:cNvSpPr txBox="1"/>
          <p:nvPr/>
        </p:nvSpPr>
        <p:spPr>
          <a:xfrm>
            <a:off x="16725758" y="2710204"/>
            <a:ext cx="4491706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l" defTabSz="1828800">
              <a:defRPr sz="3200" b="1">
                <a:solidFill>
                  <a:srgbClr val="FFFFFF"/>
                </a:solidFill>
              </a:defRPr>
            </a:lvl1pPr>
          </a:lstStyle>
          <a:p>
            <a:r>
              <a:rPr u="sng"/>
              <a:t>Visit us</a:t>
            </a:r>
            <a:r>
              <a:rPr lang="sv-SE" u="sng"/>
              <a:t>:</a:t>
            </a:r>
            <a:endParaRPr u="sng"/>
          </a:p>
        </p:txBody>
      </p:sp>
      <p:sp>
        <p:nvSpPr>
          <p:cNvPr id="352" name="TextBox 6"/>
          <p:cNvSpPr txBox="1"/>
          <p:nvPr/>
        </p:nvSpPr>
        <p:spPr>
          <a:xfrm>
            <a:off x="16725758" y="3421125"/>
            <a:ext cx="5304964" cy="485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l" defTabSz="1828800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r>
              <a:rPr sz="2400" err="1"/>
              <a:t>Elementgatan</a:t>
            </a:r>
            <a:r>
              <a:rPr sz="2400"/>
              <a:t> 10, </a:t>
            </a:r>
            <a:r>
              <a:rPr sz="2400" err="1"/>
              <a:t>Borås</a:t>
            </a:r>
            <a:r>
              <a:rPr sz="2400"/>
              <a:t>, Sweden</a:t>
            </a:r>
          </a:p>
        </p:txBody>
      </p:sp>
      <p:sp>
        <p:nvSpPr>
          <p:cNvPr id="353" name="TextBox 7"/>
          <p:cNvSpPr txBox="1"/>
          <p:nvPr/>
        </p:nvSpPr>
        <p:spPr>
          <a:xfrm>
            <a:off x="16725758" y="4694675"/>
            <a:ext cx="4491706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l" defTabSz="1828800">
              <a:defRPr sz="3200" b="1">
                <a:solidFill>
                  <a:srgbClr val="FFFFFF"/>
                </a:solidFill>
              </a:defRPr>
            </a:lvl1pPr>
          </a:lstStyle>
          <a:p>
            <a:r>
              <a:rPr u="sng"/>
              <a:t>Email</a:t>
            </a:r>
            <a:r>
              <a:rPr lang="sv-SE" u="sng"/>
              <a:t> u</a:t>
            </a:r>
            <a:r>
              <a:rPr u="sng"/>
              <a:t>s:</a:t>
            </a:r>
          </a:p>
        </p:txBody>
      </p:sp>
      <p:sp>
        <p:nvSpPr>
          <p:cNvPr id="354" name="TextBox 8"/>
          <p:cNvSpPr txBox="1"/>
          <p:nvPr/>
        </p:nvSpPr>
        <p:spPr>
          <a:xfrm>
            <a:off x="16725758" y="5420679"/>
            <a:ext cx="4491709" cy="485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l" defTabSz="1828800">
              <a:lnSpc>
                <a:spcPct val="150000"/>
              </a:lnSpc>
              <a:defRPr sz="2000" u="sng">
                <a:solidFill>
                  <a:srgbClr val="FFFFFF"/>
                </a:solidFill>
                <a:hlinkClick r:id="rId6"/>
              </a:defRPr>
            </a:lvl1pPr>
          </a:lstStyle>
          <a:p>
            <a:pPr>
              <a:defRPr u="none"/>
            </a:pPr>
            <a:r>
              <a:rPr sz="240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mail@sevendistrict.com</a:t>
            </a:r>
          </a:p>
        </p:txBody>
      </p:sp>
      <p:pic>
        <p:nvPicPr>
          <p:cNvPr id="356" name="Bild" descr="Bild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855253" y="11142174"/>
            <a:ext cx="5448272" cy="863518"/>
          </a:xfrm>
          <a:prstGeom prst="rect">
            <a:avLst/>
          </a:prstGeom>
          <a:ln w="12700">
            <a:miter lim="400000"/>
          </a:ln>
        </p:spPr>
      </p:pic>
      <p:sp>
        <p:nvSpPr>
          <p:cNvPr id="357" name="TextBox 11"/>
          <p:cNvSpPr txBox="1"/>
          <p:nvPr/>
        </p:nvSpPr>
        <p:spPr>
          <a:xfrm>
            <a:off x="1676400" y="10219928"/>
            <a:ext cx="5676900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l" defTabSz="1828800">
              <a:defRPr sz="3200">
                <a:solidFill>
                  <a:srgbClr val="FFFFFF"/>
                </a:solidFill>
              </a:defRPr>
            </a:lvl1pPr>
          </a:lstStyle>
          <a:p>
            <a:endParaRPr/>
          </a:p>
        </p:txBody>
      </p:sp>
      <p:sp>
        <p:nvSpPr>
          <p:cNvPr id="359" name="TextBox 7"/>
          <p:cNvSpPr txBox="1"/>
          <p:nvPr/>
        </p:nvSpPr>
        <p:spPr>
          <a:xfrm>
            <a:off x="16725758" y="6679145"/>
            <a:ext cx="4491706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l" defTabSz="1828800">
              <a:defRPr sz="3200" b="1">
                <a:solidFill>
                  <a:srgbClr val="FFFFFF"/>
                </a:solidFill>
              </a:defRPr>
            </a:lvl1pPr>
          </a:lstStyle>
          <a:p>
            <a:r>
              <a:t>Call </a:t>
            </a:r>
            <a:r>
              <a:rPr lang="sv-SE"/>
              <a:t>u</a:t>
            </a:r>
            <a:r>
              <a:t>s:</a:t>
            </a:r>
          </a:p>
        </p:txBody>
      </p:sp>
      <p:sp>
        <p:nvSpPr>
          <p:cNvPr id="360" name="TextBox 8"/>
          <p:cNvSpPr txBox="1"/>
          <p:nvPr/>
        </p:nvSpPr>
        <p:spPr>
          <a:xfrm>
            <a:off x="16725758" y="7405149"/>
            <a:ext cx="4491709" cy="485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algn="l" defTabSz="1828800">
              <a:lnSpc>
                <a:spcPct val="150000"/>
              </a:lnSpc>
              <a:defRPr sz="2000" u="sng">
                <a:solidFill>
                  <a:srgbClr val="FFFFFF"/>
                </a:solidFill>
                <a:hlinkClick r:id="rId8"/>
              </a:defRPr>
            </a:lvl1pPr>
          </a:lstStyle>
          <a:p>
            <a:pPr>
              <a:defRPr u="none"/>
            </a:pPr>
            <a:r>
              <a:rPr sz="2400">
                <a:solidFill>
                  <a:schemeClr val="bg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+46 702 02 99 09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60" fill="hold"/>
                                        <p:tgtEl>
                                          <p:spTgt spid="34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100000">
                <p:cTn id="7" fill="hold" display="0">
                  <p:stCondLst>
                    <p:cond delay="indefinite"/>
                  </p:stCondLst>
                </p:cTn>
                <p:tgtEl>
                  <p:spTgt spid="348"/>
                </p:tgtEl>
              </p:cMediaNode>
            </p:video>
            <p:seq concurrent="1" prevAc="none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4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8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4480243F416AB4BA0DDA2C23D5F0C48" ma:contentTypeVersion="4" ma:contentTypeDescription="Skapa ett nytt dokument." ma:contentTypeScope="" ma:versionID="484852d88091c024475f3689da39df91">
  <xsd:schema xmlns:xsd="http://www.w3.org/2001/XMLSchema" xmlns:xs="http://www.w3.org/2001/XMLSchema" xmlns:p="http://schemas.microsoft.com/office/2006/metadata/properties" xmlns:ns2="91a84c4d-3abf-415f-91ab-ca150d13142f" targetNamespace="http://schemas.microsoft.com/office/2006/metadata/properties" ma:root="true" ma:fieldsID="09242d6fa334b8eac8e5258d6c1e9391" ns2:_="">
    <xsd:import namespace="91a84c4d-3abf-415f-91ab-ca150d13142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a84c4d-3abf-415f-91ab-ca150d13142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7A1C168-6532-4B09-9415-FAB256465C8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1a84c4d-3abf-415f-91ab-ca150d1314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AB2ABAE-36E0-453B-AC3B-BA85AA17846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B3C48AD-1603-449D-8893-5C8C618C5B3C}">
  <ds:schemaRefs>
    <ds:schemaRef ds:uri="http://schemas.microsoft.com/office/2006/documentManagement/types"/>
    <ds:schemaRef ds:uri="http://purl.org/dc/dcmitype/"/>
    <ds:schemaRef ds:uri="http://purl.org/dc/elements/1.1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91a84c4d-3abf-415f-91ab-ca150d13142f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f3deb99d-947e-4ff9-be3b-3407bb5d35af}" enabled="0" method="" siteId="{f3deb99d-947e-4ff9-be3b-3407bb5d35a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1850</Words>
  <Application>Microsoft Office PowerPoint</Application>
  <PresentationFormat>Anpassad</PresentationFormat>
  <Paragraphs>328</Paragraphs>
  <Slides>7</Slides>
  <Notes>1</Notes>
  <HiddenSlides>0</HiddenSlides>
  <MMClips>1</MMClips>
  <ScaleCrop>false</ScaleCrop>
  <HeadingPairs>
    <vt:vector size="6" baseType="variant">
      <vt:variant>
        <vt:lpstr>Använt teckensnitt</vt:lpstr>
      </vt:variant>
      <vt:variant>
        <vt:i4>3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7</vt:i4>
      </vt:variant>
    </vt:vector>
  </HeadingPairs>
  <TitlesOfParts>
    <vt:vector size="11" baseType="lpstr">
      <vt:lpstr>Arial</vt:lpstr>
      <vt:lpstr>Helvetica Neue</vt:lpstr>
      <vt:lpstr>Helvetica Neue Medium</vt:lpstr>
      <vt:lpstr>21_BasicWhite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PowerPoint-presentation</dc:title>
  <dc:creator>Anders Jacobson</dc:creator>
  <cp:lastModifiedBy>Anders Jacobson</cp:lastModifiedBy>
  <cp:revision>15</cp:revision>
  <dcterms:modified xsi:type="dcterms:W3CDTF">2026-05-26T07:43:09Z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0x01010004480243F416AB4BA0DDA2C23D5F0C48</vt:lpwstr>
  </property>
  <property fmtid="{D5CDD505-2E9C-101B-9397-08002B2CF9AE}" pid="3" name="MediaServiceImageTags">
    <vt:lpwstr/>
  </property>
</Properties>
</file>